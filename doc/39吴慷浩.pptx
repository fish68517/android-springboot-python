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2.svg" ContentType="image/svg+xml"/>
  <Override PartName="/ppt/media/image24.svg" ContentType="image/svg+xml"/>
  <Override PartName="/ppt/media/image2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2" r:id="rId3"/>
  </p:sldMasterIdLst>
  <p:notesMasterIdLst>
    <p:notesMasterId r:id="rId5"/>
  </p:notesMasterIdLst>
  <p:sldIdLst>
    <p:sldId id="256" r:id="rId4"/>
    <p:sldId id="257" r:id="rId6"/>
    <p:sldId id="259" r:id="rId7"/>
    <p:sldId id="293" r:id="rId8"/>
    <p:sldId id="261" r:id="rId9"/>
    <p:sldId id="262" r:id="rId10"/>
    <p:sldId id="302" r:id="rId11"/>
    <p:sldId id="300" r:id="rId12"/>
    <p:sldId id="265" r:id="rId13"/>
    <p:sldId id="294" r:id="rId14"/>
    <p:sldId id="286" r:id="rId15"/>
    <p:sldId id="267" r:id="rId16"/>
    <p:sldId id="268" r:id="rId17"/>
    <p:sldId id="303" r:id="rId18"/>
    <p:sldId id="270" r:id="rId19"/>
    <p:sldId id="266" r:id="rId20"/>
    <p:sldId id="299" r:id="rId21"/>
    <p:sldId id="271" r:id="rId22"/>
    <p:sldId id="274" r:id="rId23"/>
    <p:sldId id="297" r:id="rId24"/>
    <p:sldId id="277" r:id="rId25"/>
    <p:sldId id="282" r:id="rId26"/>
    <p:sldId id="278" r:id="rId27"/>
    <p:sldId id="281" r:id="rId28"/>
    <p:sldId id="276" r:id="rId29"/>
  </p:sldIdLst>
  <p:sldSz cx="12192000" cy="6858000"/>
  <p:notesSz cx="6858000" cy="12192000"/>
  <p:embeddedFontLst>
    <p:embeddedFont>
      <p:font typeface="楷体" panose="02010609060101010101" charset="-122"/>
      <p:regular r:id="rId33"/>
    </p:embeddedFont>
    <p:embeddedFont>
      <p:font typeface="MiSans" pitchFamily="34" charset="-122"/>
      <p:regular r:id="rId34"/>
    </p:embeddedFont>
    <p:embeddedFont>
      <p:font typeface="MiSans" pitchFamily="34" charset="-120"/>
      <p:regular r:id="rId35"/>
    </p:embeddedFont>
    <p:embeddedFont>
      <p:font typeface="黑体" panose="02010609060101010101" charset="-122"/>
      <p:regular r:id="rId36"/>
    </p:embeddedFont>
    <p:embeddedFont>
      <p:font typeface="微软雅黑" panose="020B0503020204020204" charset="-122"/>
      <p:regular r:id="rId37"/>
    </p:embeddedFont>
    <p:embeddedFont>
      <p:font typeface="Calibri" panose="020F0502020204030204" charset="0"/>
      <p:regular r:id="rId38"/>
      <p:bold r:id="rId39"/>
      <p:italic r:id="rId40"/>
      <p:boldItalic r:id="rId41"/>
    </p:embeddedFont>
    <p:embeddedFont>
      <p:font typeface="等线" panose="02010600030101010101" charset="-122"/>
      <p:regular r:id="rId42"/>
    </p:embeddedFont>
    <p:embeddedFont>
      <p:font typeface="Calibri Light" panose="020F0302020204030204" charset="0"/>
      <p:regular r:id="rId43"/>
      <p:italic r:id="rId44"/>
    </p:embeddedFont>
    <p:embeddedFont>
      <p:font typeface="等线 Light" panose="02010600030101010101" charset="-122"/>
      <p:regular r:id="rId4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E2FE"/>
    <a:srgbClr val="C3D0F9"/>
    <a:srgbClr val="7997E4"/>
    <a:srgbClr val="DAE4FE"/>
    <a:srgbClr val="F8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5" Type="http://schemas.openxmlformats.org/officeDocument/2006/relationships/font" Target="fonts/font13.fntdata"/><Relationship Id="rId44" Type="http://schemas.openxmlformats.org/officeDocument/2006/relationships/font" Target="fonts/font12.fntdata"/><Relationship Id="rId43" Type="http://schemas.openxmlformats.org/officeDocument/2006/relationships/font" Target="fonts/font11.fntdata"/><Relationship Id="rId42" Type="http://schemas.openxmlformats.org/officeDocument/2006/relationships/font" Target="fonts/font10.fntdata"/><Relationship Id="rId41" Type="http://schemas.openxmlformats.org/officeDocument/2006/relationships/font" Target="fonts/font9.fntdata"/><Relationship Id="rId40" Type="http://schemas.openxmlformats.org/officeDocument/2006/relationships/font" Target="fonts/font8.fntdata"/><Relationship Id="rId4" Type="http://schemas.openxmlformats.org/officeDocument/2006/relationships/slide" Target="slides/slide1.xml"/><Relationship Id="rId39" Type="http://schemas.openxmlformats.org/officeDocument/2006/relationships/font" Target="fonts/font7.fntdata"/><Relationship Id="rId38" Type="http://schemas.openxmlformats.org/officeDocument/2006/relationships/font" Target="fonts/font6.fntdata"/><Relationship Id="rId37" Type="http://schemas.openxmlformats.org/officeDocument/2006/relationships/font" Target="fonts/font5.fntdata"/><Relationship Id="rId36" Type="http://schemas.openxmlformats.org/officeDocument/2006/relationships/font" Target="fonts/font4.fntdata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04800" y="4237567"/>
            <a:ext cx="1422400" cy="243417"/>
          </a:xfrm>
        </p:spPr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082800" y="4237567"/>
            <a:ext cx="1930400" cy="24341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68800" y="4237567"/>
            <a:ext cx="1422400" cy="243417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和内容卡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7" hasCustomPrompt="1"/>
            <p:custDataLst>
              <p:tags r:id="rId3"/>
            </p:custDataLst>
          </p:nvPr>
        </p:nvSpPr>
        <p:spPr>
          <a:xfrm>
            <a:off x="609600" y="28956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内容占位符 7"/>
          <p:cNvSpPr>
            <a:spLocks noGrp="1"/>
          </p:cNvSpPr>
          <p:nvPr>
            <p:ph idx="16388" hasCustomPrompt="1"/>
            <p:custDataLst>
              <p:tags r:id="rId4"/>
            </p:custDataLst>
          </p:nvPr>
        </p:nvSpPr>
        <p:spPr>
          <a:xfrm>
            <a:off x="4368800" y="28956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内容占位符 8"/>
          <p:cNvSpPr>
            <a:spLocks noGrp="1"/>
          </p:cNvSpPr>
          <p:nvPr>
            <p:ph idx="16389" hasCustomPrompt="1"/>
            <p:custDataLst>
              <p:tags r:id="rId5"/>
            </p:custDataLst>
          </p:nvPr>
        </p:nvSpPr>
        <p:spPr>
          <a:xfrm>
            <a:off x="8128000" y="28956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524000"/>
            <a:ext cx="109728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04800" y="4237567"/>
            <a:ext cx="1422400" cy="243417"/>
          </a:xfrm>
        </p:spPr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082800" y="4237567"/>
            <a:ext cx="1930400" cy="24341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68800" y="4237567"/>
            <a:ext cx="1422400" cy="243417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3.png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5" Type="http://schemas.openxmlformats.org/officeDocument/2006/relationships/notesSlide" Target="../notesSlides/notesSlide2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24.xml"/><Relationship Id="rId22" Type="http://schemas.openxmlformats.org/officeDocument/2006/relationships/tags" Target="../tags/tag23.xml"/><Relationship Id="rId21" Type="http://schemas.openxmlformats.org/officeDocument/2006/relationships/tags" Target="../tags/tag22.xml"/><Relationship Id="rId20" Type="http://schemas.openxmlformats.org/officeDocument/2006/relationships/tags" Target="../tags/tag21.xml"/><Relationship Id="rId2" Type="http://schemas.openxmlformats.org/officeDocument/2006/relationships/image" Target="../media/image5.png"/><Relationship Id="rId19" Type="http://schemas.openxmlformats.org/officeDocument/2006/relationships/tags" Target="../tags/tag20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tags" Target="../tags/tag27.xml"/><Relationship Id="rId4" Type="http://schemas.openxmlformats.org/officeDocument/2006/relationships/image" Target="../media/image3.png"/><Relationship Id="rId3" Type="http://schemas.openxmlformats.org/officeDocument/2006/relationships/tags" Target="../tags/tag26.xml"/><Relationship Id="rId24" Type="http://schemas.openxmlformats.org/officeDocument/2006/relationships/notesSlide" Target="../notesSlides/notesSlide4.xml"/><Relationship Id="rId23" Type="http://schemas.openxmlformats.org/officeDocument/2006/relationships/slideLayout" Target="../slideLayouts/slideLayout4.xml"/><Relationship Id="rId22" Type="http://schemas.openxmlformats.org/officeDocument/2006/relationships/tags" Target="../tags/tag42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5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2" Type="http://schemas.openxmlformats.org/officeDocument/2006/relationships/notesSlide" Target="../notesSlides/notesSlide7.xml"/><Relationship Id="rId41" Type="http://schemas.openxmlformats.org/officeDocument/2006/relationships/slideLayout" Target="../slideLayouts/slideLayout4.xml"/><Relationship Id="rId40" Type="http://schemas.openxmlformats.org/officeDocument/2006/relationships/tags" Target="../tags/tag80.xml"/><Relationship Id="rId4" Type="http://schemas.openxmlformats.org/officeDocument/2006/relationships/tags" Target="../tags/tag44.xml"/><Relationship Id="rId39" Type="http://schemas.openxmlformats.org/officeDocument/2006/relationships/tags" Target="../tags/tag79.xml"/><Relationship Id="rId38" Type="http://schemas.openxmlformats.org/officeDocument/2006/relationships/tags" Target="../tags/tag78.xml"/><Relationship Id="rId37" Type="http://schemas.openxmlformats.org/officeDocument/2006/relationships/tags" Target="../tags/tag77.xml"/><Relationship Id="rId36" Type="http://schemas.openxmlformats.org/officeDocument/2006/relationships/tags" Target="../tags/tag76.xml"/><Relationship Id="rId35" Type="http://schemas.openxmlformats.org/officeDocument/2006/relationships/tags" Target="../tags/tag75.xml"/><Relationship Id="rId34" Type="http://schemas.openxmlformats.org/officeDocument/2006/relationships/tags" Target="../tags/tag74.xml"/><Relationship Id="rId33" Type="http://schemas.openxmlformats.org/officeDocument/2006/relationships/tags" Target="../tags/tag73.xml"/><Relationship Id="rId32" Type="http://schemas.openxmlformats.org/officeDocument/2006/relationships/tags" Target="../tags/tag72.xml"/><Relationship Id="rId31" Type="http://schemas.openxmlformats.org/officeDocument/2006/relationships/tags" Target="../tags/tag71.xml"/><Relationship Id="rId30" Type="http://schemas.openxmlformats.org/officeDocument/2006/relationships/tags" Target="../tags/tag70.xml"/><Relationship Id="rId3" Type="http://schemas.openxmlformats.org/officeDocument/2006/relationships/tags" Target="../tags/tag43.xml"/><Relationship Id="rId29" Type="http://schemas.openxmlformats.org/officeDocument/2006/relationships/tags" Target="../tags/tag69.xml"/><Relationship Id="rId28" Type="http://schemas.openxmlformats.org/officeDocument/2006/relationships/tags" Target="../tags/tag68.xml"/><Relationship Id="rId27" Type="http://schemas.openxmlformats.org/officeDocument/2006/relationships/tags" Target="../tags/tag67.xml"/><Relationship Id="rId26" Type="http://schemas.openxmlformats.org/officeDocument/2006/relationships/tags" Target="../tags/tag66.xml"/><Relationship Id="rId25" Type="http://schemas.openxmlformats.org/officeDocument/2006/relationships/tags" Target="../tags/tag65.xml"/><Relationship Id="rId24" Type="http://schemas.openxmlformats.org/officeDocument/2006/relationships/tags" Target="../tags/tag64.xml"/><Relationship Id="rId23" Type="http://schemas.openxmlformats.org/officeDocument/2006/relationships/tags" Target="../tags/tag63.xml"/><Relationship Id="rId22" Type="http://schemas.openxmlformats.org/officeDocument/2006/relationships/tags" Target="../tags/tag62.xml"/><Relationship Id="rId21" Type="http://schemas.openxmlformats.org/officeDocument/2006/relationships/tags" Target="../tags/tag61.xml"/><Relationship Id="rId20" Type="http://schemas.openxmlformats.org/officeDocument/2006/relationships/tags" Target="../tags/tag60.xml"/><Relationship Id="rId2" Type="http://schemas.openxmlformats.org/officeDocument/2006/relationships/image" Target="../media/image3.png"/><Relationship Id="rId19" Type="http://schemas.openxmlformats.org/officeDocument/2006/relationships/tags" Target="../tags/tag59.xml"/><Relationship Id="rId18" Type="http://schemas.openxmlformats.org/officeDocument/2006/relationships/tags" Target="../tags/tag58.xml"/><Relationship Id="rId17" Type="http://schemas.openxmlformats.org/officeDocument/2006/relationships/tags" Target="../tags/tag57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1" Type="http://schemas.openxmlformats.org/officeDocument/2006/relationships/notesSlide" Target="../notesSlides/notesSlide10.xml"/><Relationship Id="rId20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9" Type="http://schemas.openxmlformats.org/officeDocument/2006/relationships/tags" Target="../tags/tag97.xml"/><Relationship Id="rId18" Type="http://schemas.openxmlformats.org/officeDocument/2006/relationships/tags" Target="../tags/tag96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image" Target="../media/image15.png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image" Target="../media/image9.png"/><Relationship Id="rId2" Type="http://schemas.openxmlformats.org/officeDocument/2006/relationships/tags" Target="../tags/tag98.xml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04.xml"/><Relationship Id="rId1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image" Target="../media/image9.png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image" Target="../media/image22.png"/><Relationship Id="rId18" Type="http://schemas.openxmlformats.org/officeDocument/2006/relationships/notesSlide" Target="../notesSlides/notesSlide18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17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image" Target="../media/image3.png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6" Type="http://schemas.openxmlformats.org/officeDocument/2006/relationships/notesSlide" Target="../notesSlides/notesSlide20.xml"/><Relationship Id="rId15" Type="http://schemas.openxmlformats.org/officeDocument/2006/relationships/slideLayout" Target="../slideLayouts/slideLayout4.xml"/><Relationship Id="rId14" Type="http://schemas.openxmlformats.org/officeDocument/2006/relationships/image" Target="../media/image24.svg"/><Relationship Id="rId13" Type="http://schemas.openxmlformats.org/officeDocument/2006/relationships/image" Target="../media/image23.png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tags" Target="../tags/tag128.xml"/><Relationship Id="rId20" Type="http://schemas.openxmlformats.org/officeDocument/2006/relationships/notesSlide" Target="../notesSlides/notesSlide22.xml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4.xml"/><Relationship Id="rId18" Type="http://schemas.openxmlformats.org/officeDocument/2006/relationships/tags" Target="../tags/tag141.xml"/><Relationship Id="rId17" Type="http://schemas.openxmlformats.org/officeDocument/2006/relationships/tags" Target="../tags/tag140.xml"/><Relationship Id="rId16" Type="http://schemas.openxmlformats.org/officeDocument/2006/relationships/tags" Target="../tags/tag139.xml"/><Relationship Id="rId15" Type="http://schemas.openxmlformats.org/officeDocument/2006/relationships/tags" Target="../tags/tag138.xml"/><Relationship Id="rId14" Type="http://schemas.openxmlformats.org/officeDocument/2006/relationships/tags" Target="../tags/tag137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3-d2tarltnfo2stf9djk2g.png"/>
          <p:cNvPicPr>
            <a:picLocks noChangeAspect="1"/>
          </p:cNvPicPr>
          <p:nvPr/>
        </p:nvPicPr>
        <p:blipFill>
          <a:blip r:embed="rId1"/>
          <a:srcRect l="11651" t="6196" r="5498" b="958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04972" y="6293196"/>
            <a:ext cx="704469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3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188085" y="102870"/>
            <a:ext cx="262890" cy="11703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23290" y="1490980"/>
            <a:ext cx="7068185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60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基于</a:t>
            </a:r>
            <a:r>
              <a:rPr lang="en-US" sz="60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Android</a:t>
            </a:r>
            <a:r>
              <a:rPr lang="zh-CN" altLang="en-US" sz="60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</a:t>
            </a:r>
            <a:r>
              <a:rPr lang="en-US" sz="60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人脸</a:t>
            </a:r>
            <a:r>
              <a:rPr lang="zh-CN" altLang="en-US" sz="60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识别</a:t>
            </a:r>
            <a:r>
              <a:rPr lang="en-US" sz="60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签到系统</a:t>
            </a:r>
            <a:endParaRPr lang="en-US" sz="6000" b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15" name="Image 2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909594" y="4470400"/>
            <a:ext cx="780106" cy="82078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34695" y="5018515"/>
            <a:ext cx="1131570" cy="81523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  <p:sp>
        <p:nvSpPr>
          <p:cNvPr id="17" name="Text 12"/>
          <p:cNvSpPr/>
          <p:nvPr/>
        </p:nvSpPr>
        <p:spPr>
          <a:xfrm>
            <a:off x="734695" y="5018515"/>
            <a:ext cx="1131570" cy="8152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1689735" y="4712335"/>
            <a:ext cx="6580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汇报人：吴慷浩</a:t>
            </a:r>
            <a:endParaRPr lang="zh-CN" altLang="en-US" sz="280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89735" y="5471795"/>
            <a:ext cx="6580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指导教师：李钢</a:t>
            </a:r>
            <a:endParaRPr lang="zh-CN" altLang="en-US" sz="280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194300" y="5471795"/>
            <a:ext cx="6580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开题时间：</a:t>
            </a:r>
            <a:r>
              <a:rPr lang="en-US" altLang="zh-CN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2025</a:t>
            </a:r>
            <a:r>
              <a:rPr lang="zh-CN" altLang="en-US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</a:t>
            </a:r>
            <a:r>
              <a:rPr lang="en-US" altLang="zh-CN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9</a:t>
            </a:r>
            <a:r>
              <a:rPr lang="zh-CN" altLang="en-US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lang="en-US" altLang="zh-CN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27</a:t>
            </a:r>
            <a:r>
              <a:rPr lang="zh-CN" altLang="en-US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</a:t>
            </a:r>
            <a:endParaRPr lang="zh-CN" altLang="en-US" sz="280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194300" y="476377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班级：22计本一班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5" name="Shape 0"/>
          <p:cNvSpPr/>
          <p:nvPr>
            <p:custDataLst>
              <p:tags r:id="rId3"/>
            </p:custDataLst>
          </p:nvPr>
        </p:nvSpPr>
        <p:spPr>
          <a:xfrm flipH="1">
            <a:off x="3539490" y="184213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>
            <p:custDataLst>
              <p:tags r:id="rId4"/>
            </p:custDataLst>
          </p:nvPr>
        </p:nvSpPr>
        <p:spPr>
          <a:xfrm flipH="1">
            <a:off x="3539490" y="259461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>
            <p:custDataLst>
              <p:tags r:id="rId5"/>
            </p:custDataLst>
          </p:nvPr>
        </p:nvSpPr>
        <p:spPr>
          <a:xfrm flipH="1">
            <a:off x="3539490" y="336994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>
            <p:custDataLst>
              <p:tags r:id="rId6"/>
            </p:custDataLst>
          </p:nvPr>
        </p:nvSpPr>
        <p:spPr>
          <a:xfrm flipH="1">
            <a:off x="3539490" y="411353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9" name="Shape 4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3" name="Text 18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44550" y="2692400"/>
            <a:ext cx="2663190" cy="4296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924560" y="267081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6" name="Shape 21"/>
          <p:cNvSpPr/>
          <p:nvPr>
            <p:custDataLst>
              <p:tags r:id="rId7"/>
            </p:custDataLst>
          </p:nvPr>
        </p:nvSpPr>
        <p:spPr>
          <a:xfrm flipH="1">
            <a:off x="3539490" y="102743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pic>
        <p:nvPicPr>
          <p:cNvPr id="27" name="Image 3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2209165" y="4778375"/>
            <a:ext cx="892175" cy="93853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2009140" y="5405120"/>
            <a:ext cx="1294130" cy="93218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  <p:sp>
        <p:nvSpPr>
          <p:cNvPr id="29" name="Text 23"/>
          <p:cNvSpPr/>
          <p:nvPr/>
        </p:nvSpPr>
        <p:spPr>
          <a:xfrm>
            <a:off x="2009140" y="5405120"/>
            <a:ext cx="1294130" cy="932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0" name="Image 4" descr="https://kimi-img.moonshot.cn/pub/slides/slides_tmpl/image/25-09-05-17:30:59-d2tarktnfo2stf9djju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960000">
            <a:off x="9978390" y="1252855"/>
            <a:ext cx="1807845" cy="1654175"/>
          </a:xfrm>
          <a:prstGeom prst="rect">
            <a:avLst/>
          </a:prstGeom>
        </p:spPr>
      </p:pic>
      <p:sp>
        <p:nvSpPr>
          <p:cNvPr id="31" name="Text 24"/>
          <p:cNvSpPr/>
          <p:nvPr>
            <p:custDataLst>
              <p:tags r:id="rId10"/>
            </p:custDataLst>
          </p:nvPr>
        </p:nvSpPr>
        <p:spPr>
          <a:xfrm>
            <a:off x="3784600" y="83439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32" name="Text 25"/>
          <p:cNvSpPr/>
          <p:nvPr>
            <p:custDataLst>
              <p:tags r:id="rId11"/>
            </p:custDataLst>
          </p:nvPr>
        </p:nvSpPr>
        <p:spPr>
          <a:xfrm>
            <a:off x="4739005" y="958533"/>
            <a:ext cx="626745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3600" dirty="0">
                <a:solidFill>
                  <a:schemeClr val="tx1"/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研究背景、选题依据</a:t>
            </a:r>
            <a:endParaRPr lang="zh-CN" altLang="en-US" sz="3600" dirty="0">
              <a:solidFill>
                <a:schemeClr val="tx1"/>
              </a:solidFill>
              <a:effectLst/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3" name="Text 26"/>
          <p:cNvSpPr/>
          <p:nvPr>
            <p:custDataLst>
              <p:tags r:id="rId12"/>
            </p:custDataLst>
          </p:nvPr>
        </p:nvSpPr>
        <p:spPr>
          <a:xfrm>
            <a:off x="3784600" y="1601788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34" name="Text 27"/>
          <p:cNvSpPr/>
          <p:nvPr>
            <p:custDataLst>
              <p:tags r:id="rId13"/>
            </p:custDataLst>
          </p:nvPr>
        </p:nvSpPr>
        <p:spPr>
          <a:xfrm>
            <a:off x="4739005" y="1725930"/>
            <a:ext cx="6268085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3600" dirty="0">
                <a:solidFill>
                  <a:schemeClr val="tx1"/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国内外研究动态</a:t>
            </a:r>
            <a:endParaRPr lang="zh-CN" altLang="en-US" sz="3600" dirty="0">
              <a:solidFill>
                <a:schemeClr val="tx1"/>
              </a:solidFill>
              <a:effectLst/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5" name="Text 28"/>
          <p:cNvSpPr/>
          <p:nvPr>
            <p:custDataLst>
              <p:tags r:id="rId14"/>
            </p:custDataLst>
          </p:nvPr>
        </p:nvSpPr>
        <p:spPr>
          <a:xfrm>
            <a:off x="3784600" y="2400935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36" name="Text 29"/>
          <p:cNvSpPr/>
          <p:nvPr>
            <p:custDataLst>
              <p:tags r:id="rId15"/>
            </p:custDataLst>
          </p:nvPr>
        </p:nvSpPr>
        <p:spPr>
          <a:xfrm>
            <a:off x="4739005" y="2525078"/>
            <a:ext cx="6266815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3600" dirty="0">
                <a:solidFill>
                  <a:schemeClr val="tx1"/>
                </a:solidFill>
                <a:effectLst/>
                <a:latin typeface="楷体" panose="02010609060101010101" charset="-122"/>
                <a:ea typeface="楷体" panose="02010609060101010101" charset="-122"/>
                <a:cs typeface="MiSans" pitchFamily="34" charset="-120"/>
              </a:rPr>
              <a:t>主要研究内容</a:t>
            </a:r>
            <a:endParaRPr lang="zh-CN" altLang="en-US" sz="3600" dirty="0">
              <a:solidFill>
                <a:schemeClr val="tx1"/>
              </a:solidFill>
              <a:effectLst/>
              <a:latin typeface="楷体" panose="02010609060101010101" charset="-122"/>
              <a:ea typeface="楷体" panose="02010609060101010101" charset="-122"/>
              <a:cs typeface="MiSans" pitchFamily="34" charset="-120"/>
            </a:endParaRPr>
          </a:p>
        </p:txBody>
      </p:sp>
      <p:sp>
        <p:nvSpPr>
          <p:cNvPr id="37" name="Text 30"/>
          <p:cNvSpPr/>
          <p:nvPr>
            <p:custDataLst>
              <p:tags r:id="rId16"/>
            </p:custDataLst>
          </p:nvPr>
        </p:nvSpPr>
        <p:spPr>
          <a:xfrm>
            <a:off x="3784600" y="320802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38" name="Text 31"/>
          <p:cNvSpPr/>
          <p:nvPr>
            <p:custDataLst>
              <p:tags r:id="rId17"/>
            </p:custDataLst>
          </p:nvPr>
        </p:nvSpPr>
        <p:spPr>
          <a:xfrm>
            <a:off x="4739005" y="3332163"/>
            <a:ext cx="6266815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3600" dirty="0">
                <a:solidFill>
                  <a:schemeClr val="tx1"/>
                </a:solidFill>
                <a:effectLst/>
                <a:latin typeface="楷体" panose="02010609060101010101" charset="-122"/>
                <a:ea typeface="楷体" panose="02010609060101010101" charset="-122"/>
                <a:cs typeface="MiSans" pitchFamily="34" charset="-120"/>
              </a:rPr>
              <a:t>研究方案及</a:t>
            </a:r>
            <a:r>
              <a:rPr lang="zh-CN" altLang="en-US" sz="3600" dirty="0">
                <a:solidFill>
                  <a:schemeClr val="tx1"/>
                </a:solidFill>
                <a:effectLst/>
                <a:latin typeface="楷体" panose="02010609060101010101" charset="-122"/>
                <a:ea typeface="楷体" panose="02010609060101010101" charset="-122"/>
                <a:cs typeface="MiSans" pitchFamily="34" charset="-120"/>
              </a:rPr>
              <a:t>技术路线</a:t>
            </a:r>
            <a:endParaRPr lang="zh-CN" altLang="en-US" sz="3600" dirty="0">
              <a:solidFill>
                <a:schemeClr val="tx1"/>
              </a:solidFill>
              <a:effectLst/>
              <a:latin typeface="楷体" panose="02010609060101010101" charset="-122"/>
              <a:ea typeface="楷体" panose="02010609060101010101" charset="-122"/>
              <a:cs typeface="MiSans" pitchFamily="34" charset="-120"/>
            </a:endParaRPr>
          </a:p>
        </p:txBody>
      </p:sp>
      <p:sp>
        <p:nvSpPr>
          <p:cNvPr id="39" name="Text 32"/>
          <p:cNvSpPr/>
          <p:nvPr>
            <p:custDataLst>
              <p:tags r:id="rId18"/>
            </p:custDataLst>
          </p:nvPr>
        </p:nvSpPr>
        <p:spPr>
          <a:xfrm>
            <a:off x="3784600" y="398526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40" name="Text 33"/>
          <p:cNvSpPr/>
          <p:nvPr>
            <p:custDataLst>
              <p:tags r:id="rId19"/>
            </p:custDataLst>
          </p:nvPr>
        </p:nvSpPr>
        <p:spPr>
          <a:xfrm>
            <a:off x="4768850" y="4113530"/>
            <a:ext cx="7422515" cy="6134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3600" dirty="0">
                <a:solidFill>
                  <a:schemeClr val="tx1"/>
                </a:solidFill>
                <a:effectLst/>
                <a:latin typeface="楷体" panose="02010609060101010101" charset="-122"/>
                <a:ea typeface="楷体" panose="02010609060101010101" charset="-122"/>
                <a:cs typeface="MiSans" pitchFamily="34" charset="-120"/>
              </a:rPr>
              <a:t>预期目标成果、研究重难点、创新点</a:t>
            </a:r>
            <a:endParaRPr lang="zh-CN" altLang="en-US" sz="3600" dirty="0">
              <a:solidFill>
                <a:schemeClr val="tx1"/>
              </a:solidFill>
              <a:effectLst/>
              <a:latin typeface="楷体" panose="02010609060101010101" charset="-122"/>
              <a:ea typeface="楷体" panose="02010609060101010101" charset="-122"/>
              <a:cs typeface="MiSans" pitchFamily="34" charset="-120"/>
            </a:endParaRPr>
          </a:p>
        </p:txBody>
      </p:sp>
      <p:sp>
        <p:nvSpPr>
          <p:cNvPr id="41" name="Shape 3"/>
          <p:cNvSpPr/>
          <p:nvPr>
            <p:custDataLst>
              <p:tags r:id="rId20"/>
            </p:custDataLst>
          </p:nvPr>
        </p:nvSpPr>
        <p:spPr>
          <a:xfrm flipH="1">
            <a:off x="3539490" y="485521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42" name="Text 32"/>
          <p:cNvSpPr/>
          <p:nvPr>
            <p:custDataLst>
              <p:tags r:id="rId21"/>
            </p:custDataLst>
          </p:nvPr>
        </p:nvSpPr>
        <p:spPr>
          <a:xfrm>
            <a:off x="3784600" y="472694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06.</a:t>
            </a:r>
            <a:endParaRPr lang="en-US" sz="1600" dirty="0"/>
          </a:p>
        </p:txBody>
      </p:sp>
      <p:sp>
        <p:nvSpPr>
          <p:cNvPr id="43" name="文本框 42"/>
          <p:cNvSpPr txBox="1"/>
          <p:nvPr/>
        </p:nvSpPr>
        <p:spPr>
          <a:xfrm>
            <a:off x="4729480" y="4778375"/>
            <a:ext cx="6276340" cy="413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>
                <a:solidFill>
                  <a:schemeClr val="tx1"/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进度安排</a:t>
            </a:r>
            <a:endParaRPr lang="zh-CN" altLang="en-US" sz="3600">
              <a:solidFill>
                <a:schemeClr val="tx1"/>
              </a:solidFill>
              <a:effectLst/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4" name="Shape 3"/>
          <p:cNvSpPr/>
          <p:nvPr>
            <p:custDataLst>
              <p:tags r:id="rId22"/>
            </p:custDataLst>
          </p:nvPr>
        </p:nvSpPr>
        <p:spPr>
          <a:xfrm flipH="1">
            <a:off x="3539490" y="571817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45" name="Text 32"/>
          <p:cNvSpPr/>
          <p:nvPr>
            <p:custDataLst>
              <p:tags r:id="rId23"/>
            </p:custDataLst>
          </p:nvPr>
        </p:nvSpPr>
        <p:spPr>
          <a:xfrm>
            <a:off x="3784600" y="5602605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07.</a:t>
            </a:r>
            <a:endParaRPr lang="en-US" sz="1600" dirty="0"/>
          </a:p>
        </p:txBody>
      </p:sp>
      <p:sp>
        <p:nvSpPr>
          <p:cNvPr id="46" name="文本框 45"/>
          <p:cNvSpPr txBox="1"/>
          <p:nvPr/>
        </p:nvSpPr>
        <p:spPr>
          <a:xfrm>
            <a:off x="4739005" y="5602605"/>
            <a:ext cx="6613525" cy="395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>
                <a:solidFill>
                  <a:schemeClr val="tx1"/>
                </a:solidFill>
                <a:effectLst/>
                <a:latin typeface="楷体" panose="02010609060101010101" charset="-122"/>
                <a:ea typeface="楷体" panose="02010609060101010101" charset="-122"/>
              </a:rPr>
              <a:t>参考文献</a:t>
            </a:r>
            <a:endParaRPr lang="zh-CN" altLang="en-US" sz="3600">
              <a:solidFill>
                <a:schemeClr val="tx1"/>
              </a:solidFill>
              <a:effectLst/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128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4400" dirty="0">
                <a:latin typeface="楷体" panose="02010609060101010101" charset="-122"/>
                <a:ea typeface="楷体" panose="02010609060101010101" charset="-122"/>
                <a:sym typeface="+mn-ea"/>
              </a:rPr>
              <a:t>研究背景、选题依据</a:t>
            </a:r>
            <a:endParaRPr lang="zh-CN" altLang="en-US" sz="44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5-d2tarmdnfo2stf9djk4g.jp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5" name="Image 1" descr="https://kimi-img.moonshot.cn/pub/slides/slides_tmpl/image/25-09-05-17:30:59-d2tarktnfo2stf9djjt0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60000"/>
          </a:blip>
          <a:stretch>
            <a:fillRect/>
          </a:stretch>
        </p:blipFill>
        <p:spPr>
          <a:xfrm rot="1740000">
            <a:off x="10302240" y="1341755"/>
            <a:ext cx="805815" cy="8477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" name="TextBox 5"/>
          <p:cNvSpPr txBox="1"/>
          <p:nvPr/>
        </p:nvSpPr>
        <p:spPr>
          <a:xfrm>
            <a:off x="276648" y="119180"/>
            <a:ext cx="4323504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6240"/>
              </a:lnSpc>
            </a:pPr>
            <a:r>
              <a:rPr lang="zh-CN" altLang="en-US" sz="3465" b="1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研究</a:t>
            </a:r>
            <a:r>
              <a:rPr lang="en-US" sz="3465" b="1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背景意义</a:t>
            </a:r>
            <a:endParaRPr lang="en-US" sz="3465" b="1">
              <a:solidFill>
                <a:srgbClr val="100F0D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23" name="Freeform 23"/>
          <p:cNvSpPr/>
          <p:nvPr>
            <p:custDataLst>
              <p:tags r:id="rId5"/>
            </p:custDataLst>
          </p:nvPr>
        </p:nvSpPr>
        <p:spPr>
          <a:xfrm>
            <a:off x="3538071" y="3750104"/>
            <a:ext cx="5115859" cy="3107896"/>
          </a:xfrm>
          <a:custGeom>
            <a:avLst/>
            <a:gdLst/>
            <a:ahLst/>
            <a:cxnLst/>
            <a:rect l="l" t="t" r="r" b="b"/>
            <a:pathLst>
              <a:path w="7673789" h="4661844">
                <a:moveTo>
                  <a:pt x="0" y="0"/>
                </a:moveTo>
                <a:lnTo>
                  <a:pt x="7673788" y="0"/>
                </a:lnTo>
                <a:lnTo>
                  <a:pt x="7673788" y="4661844"/>
                </a:lnTo>
                <a:lnTo>
                  <a:pt x="0" y="4661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>
            <p:custDataLst>
              <p:tags r:id="rId8"/>
            </p:custDataLst>
          </p:nvPr>
        </p:nvSpPr>
        <p:spPr>
          <a:xfrm>
            <a:off x="4186611" y="1986514"/>
            <a:ext cx="3818777" cy="1230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0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教育信息化、“智慧校园”建设需要技术创新。</a:t>
            </a:r>
            <a:endParaRPr lang="zh-CN" altLang="en-US" sz="2000" b="0" i="0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20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Android</a:t>
            </a:r>
            <a:r>
              <a:rPr lang="zh-CN" altLang="en-US" sz="20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平台普及、人脸识别技术日益成熟。</a:t>
            </a:r>
            <a:endParaRPr lang="en-US" sz="20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25" name="Group 25"/>
          <p:cNvGrpSpPr/>
          <p:nvPr>
            <p:custDataLst>
              <p:tags r:id="rId9"/>
            </p:custDataLst>
          </p:nvPr>
        </p:nvGrpSpPr>
        <p:grpSpPr>
          <a:xfrm rot="0">
            <a:off x="4600575" y="1489075"/>
            <a:ext cx="3479165" cy="400050"/>
            <a:chOff x="0" y="0"/>
            <a:chExt cx="820269" cy="154986"/>
          </a:xfrm>
        </p:grpSpPr>
        <p:sp>
          <p:nvSpPr>
            <p:cNvPr id="26" name="Freeform 26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820269" cy="154986"/>
            </a:xfrm>
            <a:custGeom>
              <a:avLst/>
              <a:gdLst/>
              <a:ahLst/>
              <a:cxnLst/>
              <a:rect l="l" t="t" r="r" b="b"/>
              <a:pathLst>
                <a:path w="820269" h="154986">
                  <a:moveTo>
                    <a:pt x="77493" y="0"/>
                  </a:moveTo>
                  <a:lnTo>
                    <a:pt x="742776" y="0"/>
                  </a:lnTo>
                  <a:cubicBezTo>
                    <a:pt x="785574" y="0"/>
                    <a:pt x="820269" y="34695"/>
                    <a:pt x="820269" y="77493"/>
                  </a:cubicBezTo>
                  <a:lnTo>
                    <a:pt x="820269" y="77493"/>
                  </a:lnTo>
                  <a:cubicBezTo>
                    <a:pt x="820269" y="120291"/>
                    <a:pt x="785574" y="154986"/>
                    <a:pt x="742776" y="154986"/>
                  </a:cubicBezTo>
                  <a:lnTo>
                    <a:pt x="77493" y="154986"/>
                  </a:lnTo>
                  <a:cubicBezTo>
                    <a:pt x="34695" y="154986"/>
                    <a:pt x="0" y="120291"/>
                    <a:pt x="0" y="77493"/>
                  </a:cubicBezTo>
                  <a:lnTo>
                    <a:pt x="0" y="77493"/>
                  </a:lnTo>
                  <a:cubicBezTo>
                    <a:pt x="0" y="34695"/>
                    <a:pt x="34695" y="0"/>
                    <a:pt x="77493" y="0"/>
                  </a:cubicBezTo>
                  <a:close/>
                </a:path>
              </a:pathLst>
            </a:custGeom>
            <a:solidFill>
              <a:srgbClr val="89A2C2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820269" cy="193086"/>
            </a:xfrm>
            <a:prstGeom prst="rect">
              <a:avLst/>
            </a:prstGeom>
          </p:spPr>
          <p:txBody>
            <a:bodyPr lIns="33866" tIns="33866" rIns="33866" bIns="33866" rtlCol="0" anchor="ctr"/>
            <a:p>
              <a:pPr algn="ctr">
                <a:lnSpc>
                  <a:spcPts val="2260"/>
                </a:lnSpc>
              </a:pPr>
              <a:endParaRPr sz="1200"/>
            </a:p>
          </p:txBody>
        </p:sp>
      </p:grpSp>
      <p:sp>
        <p:nvSpPr>
          <p:cNvPr id="28" name="TextBox 28"/>
          <p:cNvSpPr txBox="1"/>
          <p:nvPr>
            <p:custDataLst>
              <p:tags r:id="rId11"/>
            </p:custDataLst>
          </p:nvPr>
        </p:nvSpPr>
        <p:spPr>
          <a:xfrm>
            <a:off x="4574540" y="1390650"/>
            <a:ext cx="3545840" cy="48196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marL="0" lvl="0" indent="0" algn="ctr">
              <a:lnSpc>
                <a:spcPts val="4370"/>
              </a:lnSpc>
              <a:spcBef>
                <a:spcPct val="0"/>
              </a:spcBef>
            </a:pPr>
            <a:r>
              <a:rPr lang="zh-CN" altLang="en-US" sz="2400" b="1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政策导向、技术成熟</a:t>
            </a:r>
            <a:endParaRPr lang="zh-CN" altLang="en-US" sz="2400" b="1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29" name="TextBox 29"/>
          <p:cNvSpPr txBox="1"/>
          <p:nvPr>
            <p:custDataLst>
              <p:tags r:id="rId12"/>
            </p:custDataLst>
          </p:nvPr>
        </p:nvSpPr>
        <p:spPr>
          <a:xfrm>
            <a:off x="821055" y="3248025"/>
            <a:ext cx="3253105" cy="1538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0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传统签到（纸质）效率低、易代签。</a:t>
            </a:r>
            <a:endParaRPr lang="zh-CN" altLang="en-US" sz="2000" b="0" i="0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0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单一技术缺陷</a:t>
            </a:r>
            <a:r>
              <a:rPr lang="en-US" altLang="zh-CN" sz="20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20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仅人脸识别可能“远程作弊”，仅定位签到可能“代签打卡”。</a:t>
            </a:r>
            <a:endParaRPr lang="en-US" sz="20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30" name="Group 30"/>
          <p:cNvGrpSpPr/>
          <p:nvPr>
            <p:custDataLst>
              <p:tags r:id="rId13"/>
            </p:custDataLst>
          </p:nvPr>
        </p:nvGrpSpPr>
        <p:grpSpPr>
          <a:xfrm rot="0">
            <a:off x="1562544" y="2779446"/>
            <a:ext cx="2116785" cy="399957"/>
            <a:chOff x="0" y="0"/>
            <a:chExt cx="820269" cy="154986"/>
          </a:xfrm>
        </p:grpSpPr>
        <p:sp>
          <p:nvSpPr>
            <p:cNvPr id="31" name="Freeform 31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820269" cy="154986"/>
            </a:xfrm>
            <a:custGeom>
              <a:avLst/>
              <a:gdLst/>
              <a:ahLst/>
              <a:cxnLst/>
              <a:rect l="l" t="t" r="r" b="b"/>
              <a:pathLst>
                <a:path w="820269" h="154986">
                  <a:moveTo>
                    <a:pt x="77493" y="0"/>
                  </a:moveTo>
                  <a:lnTo>
                    <a:pt x="742776" y="0"/>
                  </a:lnTo>
                  <a:cubicBezTo>
                    <a:pt x="785574" y="0"/>
                    <a:pt x="820269" y="34695"/>
                    <a:pt x="820269" y="77493"/>
                  </a:cubicBezTo>
                  <a:lnTo>
                    <a:pt x="820269" y="77493"/>
                  </a:lnTo>
                  <a:cubicBezTo>
                    <a:pt x="820269" y="120291"/>
                    <a:pt x="785574" y="154986"/>
                    <a:pt x="742776" y="154986"/>
                  </a:cubicBezTo>
                  <a:lnTo>
                    <a:pt x="77493" y="154986"/>
                  </a:lnTo>
                  <a:cubicBezTo>
                    <a:pt x="34695" y="154986"/>
                    <a:pt x="0" y="120291"/>
                    <a:pt x="0" y="77493"/>
                  </a:cubicBezTo>
                  <a:lnTo>
                    <a:pt x="0" y="77493"/>
                  </a:lnTo>
                  <a:cubicBezTo>
                    <a:pt x="0" y="34695"/>
                    <a:pt x="34695" y="0"/>
                    <a:pt x="77493" y="0"/>
                  </a:cubicBezTo>
                  <a:close/>
                </a:path>
              </a:pathLst>
            </a:custGeom>
            <a:solidFill>
              <a:srgbClr val="89A2C2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20269" cy="193086"/>
            </a:xfrm>
            <a:prstGeom prst="rect">
              <a:avLst/>
            </a:prstGeom>
          </p:spPr>
          <p:txBody>
            <a:bodyPr lIns="33866" tIns="33866" rIns="33866" bIns="33866" rtlCol="0" anchor="ctr"/>
            <a:p>
              <a:pPr algn="ctr">
                <a:lnSpc>
                  <a:spcPts val="2260"/>
                </a:lnSpc>
              </a:pPr>
              <a:endParaRPr sz="1200"/>
            </a:p>
          </p:txBody>
        </p:sp>
      </p:grpSp>
      <p:sp>
        <p:nvSpPr>
          <p:cNvPr id="33" name="TextBox 33"/>
          <p:cNvSpPr txBox="1"/>
          <p:nvPr>
            <p:custDataLst>
              <p:tags r:id="rId15"/>
            </p:custDataLst>
          </p:nvPr>
        </p:nvSpPr>
        <p:spPr>
          <a:xfrm>
            <a:off x="1742173" y="2619507"/>
            <a:ext cx="1795628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ctr">
              <a:lnSpc>
                <a:spcPts val="4370"/>
              </a:lnSpc>
              <a:spcBef>
                <a:spcPct val="0"/>
              </a:spcBef>
            </a:pPr>
            <a:r>
              <a:rPr lang="zh-CN" altLang="en-US" sz="2400" b="1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现实问题</a:t>
            </a:r>
            <a:endParaRPr lang="zh-CN" altLang="en-US" sz="2400" b="1" u="none" strike="noStrike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34" name="TextBox 34"/>
          <p:cNvSpPr txBox="1"/>
          <p:nvPr>
            <p:custDataLst>
              <p:tags r:id="rId16"/>
            </p:custDataLst>
          </p:nvPr>
        </p:nvSpPr>
        <p:spPr>
          <a:xfrm>
            <a:off x="8516011" y="3248063"/>
            <a:ext cx="2907025" cy="1230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0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通过</a:t>
            </a:r>
            <a:r>
              <a:rPr lang="en-US" altLang="zh-CN" sz="20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 </a:t>
            </a:r>
            <a:r>
              <a:rPr lang="zh-CN" altLang="en-US" sz="20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“人脸识别 </a:t>
            </a:r>
            <a:r>
              <a:rPr lang="en-US" altLang="zh-CN" sz="20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+ </a:t>
            </a:r>
            <a:r>
              <a:rPr lang="zh-CN" altLang="en-US" sz="20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定位签到”的双重验证，为解决高校考勤管理痛点提供一个可行</a:t>
            </a:r>
            <a:r>
              <a:rPr lang="zh-CN" altLang="en-US" sz="20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的解决方案。</a:t>
            </a:r>
            <a:endParaRPr lang="en-US" sz="20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35" name="Group 35"/>
          <p:cNvGrpSpPr/>
          <p:nvPr>
            <p:custDataLst>
              <p:tags r:id="rId17"/>
            </p:custDataLst>
          </p:nvPr>
        </p:nvGrpSpPr>
        <p:grpSpPr>
          <a:xfrm rot="0">
            <a:off x="8911131" y="2779446"/>
            <a:ext cx="2116785" cy="399957"/>
            <a:chOff x="0" y="0"/>
            <a:chExt cx="820269" cy="154986"/>
          </a:xfrm>
        </p:grpSpPr>
        <p:sp>
          <p:nvSpPr>
            <p:cNvPr id="36" name="Freeform 36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820269" cy="154986"/>
            </a:xfrm>
            <a:custGeom>
              <a:avLst/>
              <a:gdLst/>
              <a:ahLst/>
              <a:cxnLst/>
              <a:rect l="l" t="t" r="r" b="b"/>
              <a:pathLst>
                <a:path w="820269" h="154986">
                  <a:moveTo>
                    <a:pt x="77493" y="0"/>
                  </a:moveTo>
                  <a:lnTo>
                    <a:pt x="742776" y="0"/>
                  </a:lnTo>
                  <a:cubicBezTo>
                    <a:pt x="785574" y="0"/>
                    <a:pt x="820269" y="34695"/>
                    <a:pt x="820269" y="77493"/>
                  </a:cubicBezTo>
                  <a:lnTo>
                    <a:pt x="820269" y="77493"/>
                  </a:lnTo>
                  <a:cubicBezTo>
                    <a:pt x="820269" y="120291"/>
                    <a:pt x="785574" y="154986"/>
                    <a:pt x="742776" y="154986"/>
                  </a:cubicBezTo>
                  <a:lnTo>
                    <a:pt x="77493" y="154986"/>
                  </a:lnTo>
                  <a:cubicBezTo>
                    <a:pt x="34695" y="154986"/>
                    <a:pt x="0" y="120291"/>
                    <a:pt x="0" y="77493"/>
                  </a:cubicBezTo>
                  <a:lnTo>
                    <a:pt x="0" y="77493"/>
                  </a:lnTo>
                  <a:cubicBezTo>
                    <a:pt x="0" y="34695"/>
                    <a:pt x="34695" y="0"/>
                    <a:pt x="77493" y="0"/>
                  </a:cubicBezTo>
                  <a:close/>
                </a:path>
              </a:pathLst>
            </a:custGeom>
            <a:solidFill>
              <a:srgbClr val="89A2C2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820269" cy="193086"/>
            </a:xfrm>
            <a:prstGeom prst="rect">
              <a:avLst/>
            </a:prstGeom>
          </p:spPr>
          <p:txBody>
            <a:bodyPr lIns="33866" tIns="33866" rIns="33866" bIns="33866" rtlCol="0" anchor="ctr"/>
            <a:p>
              <a:pPr algn="ctr">
                <a:lnSpc>
                  <a:spcPts val="2260"/>
                </a:lnSpc>
              </a:pPr>
              <a:endParaRPr sz="1200"/>
            </a:p>
          </p:txBody>
        </p:sp>
      </p:grpSp>
      <p:sp>
        <p:nvSpPr>
          <p:cNvPr id="38" name="TextBox 38"/>
          <p:cNvSpPr txBox="1"/>
          <p:nvPr>
            <p:custDataLst>
              <p:tags r:id="rId19"/>
            </p:custDataLst>
          </p:nvPr>
        </p:nvSpPr>
        <p:spPr>
          <a:xfrm>
            <a:off x="9071709" y="2644272"/>
            <a:ext cx="1795628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ctr">
              <a:lnSpc>
                <a:spcPts val="4370"/>
              </a:lnSpc>
              <a:spcBef>
                <a:spcPct val="0"/>
              </a:spcBef>
            </a:pPr>
            <a:r>
              <a:rPr lang="zh-CN" altLang="en-US" sz="2400" b="1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研究价值</a:t>
            </a:r>
            <a:endParaRPr lang="zh-CN" altLang="en-US" sz="2400" b="1" u="none" strike="noStrike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39" name="TextBox 39"/>
          <p:cNvSpPr txBox="1"/>
          <p:nvPr>
            <p:custDataLst>
              <p:tags r:id="rId20"/>
            </p:custDataLst>
          </p:nvPr>
        </p:nvSpPr>
        <p:spPr>
          <a:xfrm>
            <a:off x="4383197" y="4784505"/>
            <a:ext cx="734635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5955"/>
              </a:lnSpc>
            </a:pPr>
            <a:r>
              <a:rPr lang="en-US" sz="3305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01</a:t>
            </a:r>
            <a:endParaRPr lang="en-US" sz="3305" b="1">
              <a:solidFill>
                <a:srgbClr val="FFFFF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40" name="TextBox 40"/>
          <p:cNvSpPr txBox="1"/>
          <p:nvPr>
            <p:custDataLst>
              <p:tags r:id="rId21"/>
            </p:custDataLst>
          </p:nvPr>
        </p:nvSpPr>
        <p:spPr>
          <a:xfrm>
            <a:off x="5728683" y="3677329"/>
            <a:ext cx="734635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5955"/>
              </a:lnSpc>
            </a:pPr>
            <a:r>
              <a:rPr lang="en-US" sz="3305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02</a:t>
            </a:r>
            <a:endParaRPr lang="en-US" sz="3305" b="1">
              <a:solidFill>
                <a:srgbClr val="FFFFF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sp>
        <p:nvSpPr>
          <p:cNvPr id="41" name="TextBox 41"/>
          <p:cNvSpPr txBox="1"/>
          <p:nvPr>
            <p:custDataLst>
              <p:tags r:id="rId22"/>
            </p:custDataLst>
          </p:nvPr>
        </p:nvSpPr>
        <p:spPr>
          <a:xfrm>
            <a:off x="7062393" y="4784505"/>
            <a:ext cx="734635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5955"/>
              </a:lnSpc>
            </a:pPr>
            <a:r>
              <a:rPr lang="en-US" sz="3305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03</a:t>
            </a:r>
            <a:endParaRPr lang="en-US" sz="3305" b="1">
              <a:solidFill>
                <a:srgbClr val="FFFFFF"/>
              </a:solidFill>
              <a:latin typeface="Akzidenz-Grotesk Bold" panose="02000803050000020004"/>
              <a:ea typeface="Akzidenz-Grotesk Bold" panose="02000803050000020004"/>
              <a:cs typeface="Akzidenz-Grotesk Bold" panose="02000803050000020004"/>
              <a:sym typeface="Akzidenz-Grotesk Bold" panose="02000803050000020004"/>
            </a:endParaRPr>
          </a:p>
        </p:txBody>
      </p:sp>
      <p:grpSp>
        <p:nvGrpSpPr>
          <p:cNvPr id="20" name="Group 20"/>
          <p:cNvGrpSpPr/>
          <p:nvPr/>
        </p:nvGrpSpPr>
        <p:grpSpPr>
          <a:xfrm rot="0">
            <a:off x="2812072" y="4786795"/>
            <a:ext cx="6567855" cy="656785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A2C2">
                <a:alpha val="30980"/>
              </a:srgbClr>
            </a:solidFill>
          </p:spPr>
        </p:sp>
        <p:sp>
          <p:nvSpPr>
            <p:cNvPr id="18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6" tIns="33866" rIns="33866" bIns="33866" rtlCol="0" anchor="ctr"/>
            <a:p>
              <a:pPr algn="ctr">
                <a:lnSpc>
                  <a:spcPts val="2260"/>
                </a:lnSpc>
              </a:pPr>
              <a:endParaRPr sz="12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21-d2tarqdnfo2stf9djkl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15-d2tarotnfo2stf9djk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135" y="1861185"/>
            <a:ext cx="10021570" cy="4356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1020" y="532130"/>
            <a:ext cx="10993120" cy="979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单一技术的局限与融合思路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5025391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sp>
        <p:nvSpPr>
          <p:cNvPr id="6" name="Shape 2"/>
          <p:cNvSpPr/>
          <p:nvPr/>
        </p:nvSpPr>
        <p:spPr>
          <a:xfrm>
            <a:off x="8366126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pic>
        <p:nvPicPr>
          <p:cNvPr id="7" name="Image 2" descr="https://kimi-img.moonshot.cn/pub/slides/slides_tmpl/image/25-09-05-17:31:11-d2tarntnfo2stf9djk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60000">
            <a:off x="697865" y="1539875"/>
            <a:ext cx="1212850" cy="1104900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430" y="2890520"/>
            <a:ext cx="534670" cy="537210"/>
          </a:xfrm>
          <a:prstGeom prst="rect">
            <a:avLst/>
          </a:prstGeom>
        </p:spPr>
      </p:pic>
      <p:pic>
        <p:nvPicPr>
          <p:cNvPr id="9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pic>
        <p:nvPicPr>
          <p:cNvPr id="10" name="Image 5" descr="https://kimi-img.moonshot.cn/pub/slides/slides_tmpl/image/25-09-05-17:30:59-d2tarktnfo2stf9djju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960000">
            <a:off x="386715" y="4822190"/>
            <a:ext cx="1530985" cy="140081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2094230" y="2288540"/>
            <a:ext cx="251460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纯人脸识别的局限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2116455" y="3138805"/>
            <a:ext cx="2513965" cy="2987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纯人脸识别技术存在被照片或视频欺骗的风险，容易被远程攻击，无法确保签到者的真实在场。</a:t>
            </a:r>
            <a:endParaRPr lang="en-US" sz="20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416550" y="2295525"/>
            <a:ext cx="251460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纯定位的局限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5438775" y="3145790"/>
            <a:ext cx="2513965" cy="2980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纯GPS定位技术无法杜绝代打卡现象，学生可能在教室外完成签到，无法确保签到的真实性和可靠性。</a:t>
            </a:r>
            <a:endParaRPr lang="en-US" sz="20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Text 7"/>
          <p:cNvSpPr/>
          <p:nvPr/>
        </p:nvSpPr>
        <p:spPr>
          <a:xfrm>
            <a:off x="8700135" y="2315845"/>
            <a:ext cx="251460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融合思路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701405" y="3075305"/>
            <a:ext cx="2513965" cy="29597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将人脸识别与地理位置双因子耦合，可在移动端完成“身份+在场”交叉验证，既堵住远程签到漏洞，也避免代刷风险，形成1+1&gt;2的可靠性。</a:t>
            </a:r>
            <a:endParaRPr lang="en-US" sz="20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128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国内外研究动态</a:t>
            </a:r>
            <a:endParaRPr lang="zh-CN" altLang="en-US" sz="3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5-d2tarmdnfo2stf9djk4g.jp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5" name="Image 1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740000">
            <a:off x="10516870" y="209550"/>
            <a:ext cx="805815" cy="8477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Freeform 21"/>
          <p:cNvSpPr/>
          <p:nvPr>
            <p:custDataLst>
              <p:tags r:id="rId3"/>
            </p:custDataLst>
          </p:nvPr>
        </p:nvSpPr>
        <p:spPr>
          <a:xfrm rot="5400000">
            <a:off x="5793105" y="2649220"/>
            <a:ext cx="604520" cy="366395"/>
          </a:xfrm>
          <a:custGeom>
            <a:avLst/>
            <a:gdLst/>
            <a:ahLst/>
            <a:cxnLst/>
            <a:rect l="l" t="t" r="r" b="b"/>
            <a:pathLst>
              <a:path w="812800" h="533400">
                <a:moveTo>
                  <a:pt x="273050" y="0"/>
                </a:moveTo>
                <a:lnTo>
                  <a:pt x="0" y="266700"/>
                </a:lnTo>
                <a:lnTo>
                  <a:pt x="273050" y="533400"/>
                </a:lnTo>
                <a:lnTo>
                  <a:pt x="273050" y="400050"/>
                </a:lnTo>
                <a:lnTo>
                  <a:pt x="539750" y="400050"/>
                </a:lnTo>
                <a:lnTo>
                  <a:pt x="539750" y="533400"/>
                </a:lnTo>
                <a:lnTo>
                  <a:pt x="812800" y="266700"/>
                </a:lnTo>
                <a:lnTo>
                  <a:pt x="539750" y="0"/>
                </a:lnTo>
                <a:lnTo>
                  <a:pt x="539750" y="133350"/>
                </a:lnTo>
                <a:lnTo>
                  <a:pt x="273050" y="133350"/>
                </a:lnTo>
                <a:lnTo>
                  <a:pt x="273050" y="0"/>
                </a:lnTo>
                <a:close/>
              </a:path>
            </a:pathLst>
          </a:custGeom>
          <a:solidFill>
            <a:srgbClr val="C3D0F9"/>
          </a:solidFill>
        </p:spPr>
      </p:sp>
      <p:grpSp>
        <p:nvGrpSpPr>
          <p:cNvPr id="23" name="Group 23"/>
          <p:cNvGrpSpPr/>
          <p:nvPr>
            <p:custDataLst>
              <p:tags r:id="rId4"/>
            </p:custDataLst>
          </p:nvPr>
        </p:nvGrpSpPr>
        <p:grpSpPr>
          <a:xfrm rot="0">
            <a:off x="854710" y="1450975"/>
            <a:ext cx="4355465" cy="963295"/>
            <a:chOff x="0" y="0"/>
            <a:chExt cx="1588369" cy="426469"/>
          </a:xfrm>
        </p:grpSpPr>
        <p:sp>
          <p:nvSpPr>
            <p:cNvPr id="24" name="Freeform 24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588369" cy="426469"/>
            </a:xfrm>
            <a:custGeom>
              <a:avLst/>
              <a:gdLst/>
              <a:ahLst/>
              <a:cxnLst/>
              <a:rect l="l" t="t" r="r" b="b"/>
              <a:pathLst>
                <a:path w="1588369" h="426469">
                  <a:moveTo>
                    <a:pt x="23107" y="0"/>
                  </a:moveTo>
                  <a:lnTo>
                    <a:pt x="1565262" y="0"/>
                  </a:lnTo>
                  <a:cubicBezTo>
                    <a:pt x="1578023" y="0"/>
                    <a:pt x="1588369" y="10345"/>
                    <a:pt x="1588369" y="23107"/>
                  </a:cubicBezTo>
                  <a:lnTo>
                    <a:pt x="1588369" y="403362"/>
                  </a:lnTo>
                  <a:cubicBezTo>
                    <a:pt x="1588369" y="416124"/>
                    <a:pt x="1578023" y="426469"/>
                    <a:pt x="1565262" y="426469"/>
                  </a:cubicBezTo>
                  <a:lnTo>
                    <a:pt x="23107" y="426469"/>
                  </a:lnTo>
                  <a:cubicBezTo>
                    <a:pt x="10345" y="426469"/>
                    <a:pt x="0" y="416124"/>
                    <a:pt x="0" y="403362"/>
                  </a:cubicBezTo>
                  <a:lnTo>
                    <a:pt x="0" y="23107"/>
                  </a:lnTo>
                  <a:cubicBezTo>
                    <a:pt x="0" y="10345"/>
                    <a:pt x="10345" y="0"/>
                    <a:pt x="231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9A2C2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1588369" cy="426469"/>
            </a:xfrm>
            <a:prstGeom prst="rect">
              <a:avLst/>
            </a:prstGeom>
          </p:spPr>
          <p:txBody>
            <a:bodyPr lIns="33866" tIns="33866" rIns="33866" bIns="33866" rtlCol="0" anchor="ctr"/>
            <a:p>
              <a:pPr algn="ctr">
                <a:lnSpc>
                  <a:spcPts val="2725"/>
                </a:lnSpc>
              </a:pPr>
              <a:endParaRPr sz="1200"/>
            </a:p>
          </p:txBody>
        </p:sp>
      </p:grpSp>
      <p:grpSp>
        <p:nvGrpSpPr>
          <p:cNvPr id="26" name="Group 26"/>
          <p:cNvGrpSpPr/>
          <p:nvPr>
            <p:custDataLst>
              <p:tags r:id="rId6"/>
            </p:custDataLst>
          </p:nvPr>
        </p:nvGrpSpPr>
        <p:grpSpPr>
          <a:xfrm rot="0">
            <a:off x="5300929" y="1840376"/>
            <a:ext cx="1599791" cy="409222"/>
            <a:chOff x="0" y="0"/>
            <a:chExt cx="479918" cy="122762"/>
          </a:xfrm>
          <a:solidFill>
            <a:srgbClr val="7997E4"/>
          </a:solidFill>
        </p:grpSpPr>
        <p:sp>
          <p:nvSpPr>
            <p:cNvPr id="27" name="Freeform 27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479918" cy="122762"/>
            </a:xfrm>
            <a:custGeom>
              <a:avLst/>
              <a:gdLst/>
              <a:ahLst/>
              <a:cxnLst/>
              <a:rect l="l" t="t" r="r" b="b"/>
              <a:pathLst>
                <a:path w="479918" h="122762">
                  <a:moveTo>
                    <a:pt x="61381" y="0"/>
                  </a:moveTo>
                  <a:lnTo>
                    <a:pt x="418537" y="0"/>
                  </a:lnTo>
                  <a:cubicBezTo>
                    <a:pt x="434817" y="0"/>
                    <a:pt x="450429" y="6467"/>
                    <a:pt x="461940" y="17978"/>
                  </a:cubicBezTo>
                  <a:cubicBezTo>
                    <a:pt x="473451" y="29489"/>
                    <a:pt x="479918" y="45102"/>
                    <a:pt x="479918" y="61381"/>
                  </a:cubicBezTo>
                  <a:lnTo>
                    <a:pt x="479918" y="61381"/>
                  </a:lnTo>
                  <a:cubicBezTo>
                    <a:pt x="479918" y="77660"/>
                    <a:pt x="473451" y="93272"/>
                    <a:pt x="461940" y="104784"/>
                  </a:cubicBezTo>
                  <a:cubicBezTo>
                    <a:pt x="450429" y="116295"/>
                    <a:pt x="434817" y="122762"/>
                    <a:pt x="418537" y="122762"/>
                  </a:cubicBezTo>
                  <a:lnTo>
                    <a:pt x="61381" y="122762"/>
                  </a:lnTo>
                  <a:cubicBezTo>
                    <a:pt x="45102" y="122762"/>
                    <a:pt x="29489" y="116295"/>
                    <a:pt x="17978" y="104784"/>
                  </a:cubicBezTo>
                  <a:cubicBezTo>
                    <a:pt x="6467" y="93272"/>
                    <a:pt x="0" y="77660"/>
                    <a:pt x="0" y="61381"/>
                  </a:cubicBezTo>
                  <a:lnTo>
                    <a:pt x="0" y="61381"/>
                  </a:lnTo>
                  <a:cubicBezTo>
                    <a:pt x="0" y="45102"/>
                    <a:pt x="6467" y="29489"/>
                    <a:pt x="17978" y="17978"/>
                  </a:cubicBezTo>
                  <a:cubicBezTo>
                    <a:pt x="29489" y="6467"/>
                    <a:pt x="45102" y="0"/>
                    <a:pt x="61381" y="0"/>
                  </a:cubicBezTo>
                  <a:close/>
                </a:path>
              </a:pathLst>
            </a:custGeom>
            <a:grpFill/>
            <a:ln cap="rnd">
              <a:noFill/>
              <a:prstDash val="solid"/>
              <a:round/>
            </a:ln>
          </p:spPr>
        </p:sp>
        <p:sp>
          <p:nvSpPr>
            <p:cNvPr id="28" name="TextBox 28"/>
            <p:cNvSpPr txBox="1"/>
            <p:nvPr>
              <p:custDataLst>
                <p:tags r:id="rId8"/>
              </p:custDataLst>
            </p:nvPr>
          </p:nvSpPr>
          <p:spPr>
            <a:xfrm>
              <a:off x="0" y="0"/>
              <a:ext cx="479918" cy="122762"/>
            </a:xfrm>
            <a:prstGeom prst="rect">
              <a:avLst/>
            </a:prstGeom>
            <a:grpFill/>
          </p:spPr>
          <p:txBody>
            <a:bodyPr lIns="33866" tIns="33866" rIns="33866" bIns="33866" rtlCol="0" anchor="ctr"/>
            <a:p>
              <a:pPr algn="ctr">
                <a:lnSpc>
                  <a:spcPts val="2400"/>
                </a:lnSpc>
              </a:pPr>
              <a:endParaRPr sz="1200"/>
            </a:p>
          </p:txBody>
        </p:sp>
      </p:grpSp>
      <p:grpSp>
        <p:nvGrpSpPr>
          <p:cNvPr id="29" name="Group 29"/>
          <p:cNvGrpSpPr/>
          <p:nvPr>
            <p:custDataLst>
              <p:tags r:id="rId9"/>
            </p:custDataLst>
          </p:nvPr>
        </p:nvGrpSpPr>
        <p:grpSpPr>
          <a:xfrm rot="0">
            <a:off x="854710" y="3255645"/>
            <a:ext cx="4355465" cy="1256030"/>
            <a:chOff x="0" y="0"/>
            <a:chExt cx="1588369" cy="426469"/>
          </a:xfrm>
        </p:grpSpPr>
        <p:sp>
          <p:nvSpPr>
            <p:cNvPr id="30" name="Freeform 30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588369" cy="426469"/>
            </a:xfrm>
            <a:custGeom>
              <a:avLst/>
              <a:gdLst/>
              <a:ahLst/>
              <a:cxnLst/>
              <a:rect l="l" t="t" r="r" b="b"/>
              <a:pathLst>
                <a:path w="1588369" h="426469">
                  <a:moveTo>
                    <a:pt x="23107" y="0"/>
                  </a:moveTo>
                  <a:lnTo>
                    <a:pt x="1565262" y="0"/>
                  </a:lnTo>
                  <a:cubicBezTo>
                    <a:pt x="1578023" y="0"/>
                    <a:pt x="1588369" y="10345"/>
                    <a:pt x="1588369" y="23107"/>
                  </a:cubicBezTo>
                  <a:lnTo>
                    <a:pt x="1588369" y="403362"/>
                  </a:lnTo>
                  <a:cubicBezTo>
                    <a:pt x="1588369" y="416124"/>
                    <a:pt x="1578023" y="426469"/>
                    <a:pt x="1565262" y="426469"/>
                  </a:cubicBezTo>
                  <a:lnTo>
                    <a:pt x="23107" y="426469"/>
                  </a:lnTo>
                  <a:cubicBezTo>
                    <a:pt x="10345" y="426469"/>
                    <a:pt x="0" y="416124"/>
                    <a:pt x="0" y="403362"/>
                  </a:cubicBezTo>
                  <a:lnTo>
                    <a:pt x="0" y="23107"/>
                  </a:lnTo>
                  <a:cubicBezTo>
                    <a:pt x="0" y="10345"/>
                    <a:pt x="10345" y="0"/>
                    <a:pt x="231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9A2C2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1588369" cy="426469"/>
            </a:xfrm>
            <a:prstGeom prst="rect">
              <a:avLst/>
            </a:prstGeom>
          </p:spPr>
          <p:txBody>
            <a:bodyPr lIns="33866" tIns="33866" rIns="33866" bIns="33866" rtlCol="0" anchor="ctr"/>
            <a:p>
              <a:pPr algn="ctr">
                <a:lnSpc>
                  <a:spcPts val="2725"/>
                </a:lnSpc>
              </a:pPr>
              <a:endParaRPr sz="1200"/>
            </a:p>
          </p:txBody>
        </p:sp>
      </p:grpSp>
      <p:grpSp>
        <p:nvGrpSpPr>
          <p:cNvPr id="32" name="Group 32"/>
          <p:cNvGrpSpPr/>
          <p:nvPr>
            <p:custDataLst>
              <p:tags r:id="rId11"/>
            </p:custDataLst>
          </p:nvPr>
        </p:nvGrpSpPr>
        <p:grpSpPr>
          <a:xfrm rot="0">
            <a:off x="5300929" y="3644896"/>
            <a:ext cx="1599791" cy="409222"/>
            <a:chOff x="0" y="0"/>
            <a:chExt cx="479918" cy="122762"/>
          </a:xfrm>
          <a:solidFill>
            <a:srgbClr val="7997E4"/>
          </a:solidFill>
        </p:grpSpPr>
        <p:sp>
          <p:nvSpPr>
            <p:cNvPr id="33" name="Freeform 33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479918" cy="122762"/>
            </a:xfrm>
            <a:custGeom>
              <a:avLst/>
              <a:gdLst/>
              <a:ahLst/>
              <a:cxnLst/>
              <a:rect l="l" t="t" r="r" b="b"/>
              <a:pathLst>
                <a:path w="479918" h="122762">
                  <a:moveTo>
                    <a:pt x="61381" y="0"/>
                  </a:moveTo>
                  <a:lnTo>
                    <a:pt x="418537" y="0"/>
                  </a:lnTo>
                  <a:cubicBezTo>
                    <a:pt x="434817" y="0"/>
                    <a:pt x="450429" y="6467"/>
                    <a:pt x="461940" y="17978"/>
                  </a:cubicBezTo>
                  <a:cubicBezTo>
                    <a:pt x="473451" y="29489"/>
                    <a:pt x="479918" y="45102"/>
                    <a:pt x="479918" y="61381"/>
                  </a:cubicBezTo>
                  <a:lnTo>
                    <a:pt x="479918" y="61381"/>
                  </a:lnTo>
                  <a:cubicBezTo>
                    <a:pt x="479918" y="77660"/>
                    <a:pt x="473451" y="93272"/>
                    <a:pt x="461940" y="104784"/>
                  </a:cubicBezTo>
                  <a:cubicBezTo>
                    <a:pt x="450429" y="116295"/>
                    <a:pt x="434817" y="122762"/>
                    <a:pt x="418537" y="122762"/>
                  </a:cubicBezTo>
                  <a:lnTo>
                    <a:pt x="61381" y="122762"/>
                  </a:lnTo>
                  <a:cubicBezTo>
                    <a:pt x="45102" y="122762"/>
                    <a:pt x="29489" y="116295"/>
                    <a:pt x="17978" y="104784"/>
                  </a:cubicBezTo>
                  <a:cubicBezTo>
                    <a:pt x="6467" y="93272"/>
                    <a:pt x="0" y="77660"/>
                    <a:pt x="0" y="61381"/>
                  </a:cubicBezTo>
                  <a:lnTo>
                    <a:pt x="0" y="61381"/>
                  </a:lnTo>
                  <a:cubicBezTo>
                    <a:pt x="0" y="45102"/>
                    <a:pt x="6467" y="29489"/>
                    <a:pt x="17978" y="17978"/>
                  </a:cubicBezTo>
                  <a:cubicBezTo>
                    <a:pt x="29489" y="6467"/>
                    <a:pt x="45102" y="0"/>
                    <a:pt x="61381" y="0"/>
                  </a:cubicBezTo>
                  <a:close/>
                </a:path>
              </a:pathLst>
            </a:custGeom>
            <a:grpFill/>
            <a:ln cap="rnd">
              <a:noFill/>
              <a:prstDash val="solid"/>
              <a:round/>
            </a:ln>
          </p:spPr>
        </p:sp>
        <p:sp>
          <p:nvSpPr>
            <p:cNvPr id="34" name="TextBox 34"/>
            <p:cNvSpPr txBox="1"/>
            <p:nvPr>
              <p:custDataLst>
                <p:tags r:id="rId13"/>
              </p:custDataLst>
            </p:nvPr>
          </p:nvSpPr>
          <p:spPr>
            <a:xfrm>
              <a:off x="0" y="0"/>
              <a:ext cx="479918" cy="122762"/>
            </a:xfrm>
            <a:prstGeom prst="rect">
              <a:avLst/>
            </a:prstGeom>
            <a:grpFill/>
          </p:spPr>
          <p:txBody>
            <a:bodyPr lIns="33866" tIns="33866" rIns="33866" bIns="33866" rtlCol="0" anchor="ctr"/>
            <a:p>
              <a:pPr algn="ctr">
                <a:lnSpc>
                  <a:spcPts val="2400"/>
                </a:lnSpc>
              </a:pPr>
              <a:endParaRPr sz="1200"/>
            </a:p>
          </p:txBody>
        </p:sp>
      </p:grpSp>
      <p:grpSp>
        <p:nvGrpSpPr>
          <p:cNvPr id="35" name="Group 35"/>
          <p:cNvGrpSpPr/>
          <p:nvPr>
            <p:custDataLst>
              <p:tags r:id="rId14"/>
            </p:custDataLst>
          </p:nvPr>
        </p:nvGrpSpPr>
        <p:grpSpPr>
          <a:xfrm rot="0">
            <a:off x="854710" y="5010785"/>
            <a:ext cx="4355465" cy="1256030"/>
            <a:chOff x="0" y="0"/>
            <a:chExt cx="1588369" cy="426469"/>
          </a:xfrm>
        </p:grpSpPr>
        <p:sp>
          <p:nvSpPr>
            <p:cNvPr id="36" name="Freeform 36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588369" cy="426469"/>
            </a:xfrm>
            <a:custGeom>
              <a:avLst/>
              <a:gdLst/>
              <a:ahLst/>
              <a:cxnLst/>
              <a:rect l="l" t="t" r="r" b="b"/>
              <a:pathLst>
                <a:path w="1588369" h="426469">
                  <a:moveTo>
                    <a:pt x="23107" y="0"/>
                  </a:moveTo>
                  <a:lnTo>
                    <a:pt x="1565262" y="0"/>
                  </a:lnTo>
                  <a:cubicBezTo>
                    <a:pt x="1578023" y="0"/>
                    <a:pt x="1588369" y="10345"/>
                    <a:pt x="1588369" y="23107"/>
                  </a:cubicBezTo>
                  <a:lnTo>
                    <a:pt x="1588369" y="403362"/>
                  </a:lnTo>
                  <a:cubicBezTo>
                    <a:pt x="1588369" y="416124"/>
                    <a:pt x="1578023" y="426469"/>
                    <a:pt x="1565262" y="426469"/>
                  </a:cubicBezTo>
                  <a:lnTo>
                    <a:pt x="23107" y="426469"/>
                  </a:lnTo>
                  <a:cubicBezTo>
                    <a:pt x="10345" y="426469"/>
                    <a:pt x="0" y="416124"/>
                    <a:pt x="0" y="403362"/>
                  </a:cubicBezTo>
                  <a:lnTo>
                    <a:pt x="0" y="23107"/>
                  </a:lnTo>
                  <a:cubicBezTo>
                    <a:pt x="0" y="10345"/>
                    <a:pt x="10345" y="0"/>
                    <a:pt x="231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9A2C2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1588369" cy="426469"/>
            </a:xfrm>
            <a:prstGeom prst="rect">
              <a:avLst/>
            </a:prstGeom>
          </p:spPr>
          <p:txBody>
            <a:bodyPr lIns="33866" tIns="33866" rIns="33866" bIns="33866" rtlCol="0" anchor="ctr"/>
            <a:p>
              <a:pPr algn="ctr">
                <a:lnSpc>
                  <a:spcPts val="2725"/>
                </a:lnSpc>
              </a:pPr>
              <a:endParaRPr sz="1200"/>
            </a:p>
          </p:txBody>
        </p:sp>
      </p:grpSp>
      <p:grpSp>
        <p:nvGrpSpPr>
          <p:cNvPr id="38" name="Group 38"/>
          <p:cNvGrpSpPr/>
          <p:nvPr>
            <p:custDataLst>
              <p:tags r:id="rId16"/>
            </p:custDataLst>
          </p:nvPr>
        </p:nvGrpSpPr>
        <p:grpSpPr>
          <a:xfrm rot="0">
            <a:off x="5300929" y="5400036"/>
            <a:ext cx="1599791" cy="409222"/>
            <a:chOff x="0" y="0"/>
            <a:chExt cx="479918" cy="122762"/>
          </a:xfrm>
          <a:solidFill>
            <a:srgbClr val="7997E4"/>
          </a:solidFill>
        </p:grpSpPr>
        <p:sp>
          <p:nvSpPr>
            <p:cNvPr id="39" name="Freeform 39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479918" cy="122762"/>
            </a:xfrm>
            <a:custGeom>
              <a:avLst/>
              <a:gdLst/>
              <a:ahLst/>
              <a:cxnLst/>
              <a:rect l="l" t="t" r="r" b="b"/>
              <a:pathLst>
                <a:path w="479918" h="122762">
                  <a:moveTo>
                    <a:pt x="61381" y="0"/>
                  </a:moveTo>
                  <a:lnTo>
                    <a:pt x="418537" y="0"/>
                  </a:lnTo>
                  <a:cubicBezTo>
                    <a:pt x="434817" y="0"/>
                    <a:pt x="450429" y="6467"/>
                    <a:pt x="461940" y="17978"/>
                  </a:cubicBezTo>
                  <a:cubicBezTo>
                    <a:pt x="473451" y="29489"/>
                    <a:pt x="479918" y="45102"/>
                    <a:pt x="479918" y="61381"/>
                  </a:cubicBezTo>
                  <a:lnTo>
                    <a:pt x="479918" y="61381"/>
                  </a:lnTo>
                  <a:cubicBezTo>
                    <a:pt x="479918" y="77660"/>
                    <a:pt x="473451" y="93272"/>
                    <a:pt x="461940" y="104784"/>
                  </a:cubicBezTo>
                  <a:cubicBezTo>
                    <a:pt x="450429" y="116295"/>
                    <a:pt x="434817" y="122762"/>
                    <a:pt x="418537" y="122762"/>
                  </a:cubicBezTo>
                  <a:lnTo>
                    <a:pt x="61381" y="122762"/>
                  </a:lnTo>
                  <a:cubicBezTo>
                    <a:pt x="45102" y="122762"/>
                    <a:pt x="29489" y="116295"/>
                    <a:pt x="17978" y="104784"/>
                  </a:cubicBezTo>
                  <a:cubicBezTo>
                    <a:pt x="6467" y="93272"/>
                    <a:pt x="0" y="77660"/>
                    <a:pt x="0" y="61381"/>
                  </a:cubicBezTo>
                  <a:lnTo>
                    <a:pt x="0" y="61381"/>
                  </a:lnTo>
                  <a:cubicBezTo>
                    <a:pt x="0" y="45102"/>
                    <a:pt x="6467" y="29489"/>
                    <a:pt x="17978" y="17978"/>
                  </a:cubicBezTo>
                  <a:cubicBezTo>
                    <a:pt x="29489" y="6467"/>
                    <a:pt x="45102" y="0"/>
                    <a:pt x="61381" y="0"/>
                  </a:cubicBezTo>
                  <a:close/>
                </a:path>
              </a:pathLst>
            </a:custGeom>
            <a:grpFill/>
            <a:ln cap="rnd">
              <a:noFill/>
              <a:prstDash val="solid"/>
              <a:round/>
            </a:ln>
          </p:spPr>
        </p:sp>
        <p:sp>
          <p:nvSpPr>
            <p:cNvPr id="40" name="TextBox 40"/>
            <p:cNvSpPr txBox="1"/>
            <p:nvPr>
              <p:custDataLst>
                <p:tags r:id="rId18"/>
              </p:custDataLst>
            </p:nvPr>
          </p:nvSpPr>
          <p:spPr>
            <a:xfrm>
              <a:off x="0" y="0"/>
              <a:ext cx="479918" cy="122762"/>
            </a:xfrm>
            <a:prstGeom prst="rect">
              <a:avLst/>
            </a:prstGeom>
            <a:grpFill/>
          </p:spPr>
          <p:txBody>
            <a:bodyPr lIns="33866" tIns="33866" rIns="33866" bIns="33866" rtlCol="0" anchor="ctr"/>
            <a:p>
              <a:pPr algn="ctr">
                <a:lnSpc>
                  <a:spcPts val="2400"/>
                </a:lnSpc>
              </a:pPr>
              <a:endParaRPr sz="1200"/>
            </a:p>
          </p:txBody>
        </p:sp>
      </p:grpSp>
      <p:grpSp>
        <p:nvGrpSpPr>
          <p:cNvPr id="41" name="Group 41"/>
          <p:cNvGrpSpPr/>
          <p:nvPr>
            <p:custDataLst>
              <p:tags r:id="rId19"/>
            </p:custDataLst>
          </p:nvPr>
        </p:nvGrpSpPr>
        <p:grpSpPr>
          <a:xfrm rot="0">
            <a:off x="7066915" y="1450975"/>
            <a:ext cx="4531995" cy="1079500"/>
            <a:chOff x="0" y="0"/>
            <a:chExt cx="1588369" cy="426469"/>
          </a:xfrm>
        </p:grpSpPr>
        <p:sp>
          <p:nvSpPr>
            <p:cNvPr id="42" name="Freeform 42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588369" cy="426469"/>
            </a:xfrm>
            <a:custGeom>
              <a:avLst/>
              <a:gdLst/>
              <a:ahLst/>
              <a:cxnLst/>
              <a:rect l="l" t="t" r="r" b="b"/>
              <a:pathLst>
                <a:path w="1588369" h="426469">
                  <a:moveTo>
                    <a:pt x="23107" y="0"/>
                  </a:moveTo>
                  <a:lnTo>
                    <a:pt x="1565262" y="0"/>
                  </a:lnTo>
                  <a:cubicBezTo>
                    <a:pt x="1578023" y="0"/>
                    <a:pt x="1588369" y="10345"/>
                    <a:pt x="1588369" y="23107"/>
                  </a:cubicBezTo>
                  <a:lnTo>
                    <a:pt x="1588369" y="403362"/>
                  </a:lnTo>
                  <a:cubicBezTo>
                    <a:pt x="1588369" y="416124"/>
                    <a:pt x="1578023" y="426469"/>
                    <a:pt x="1565262" y="426469"/>
                  </a:cubicBezTo>
                  <a:lnTo>
                    <a:pt x="23107" y="426469"/>
                  </a:lnTo>
                  <a:cubicBezTo>
                    <a:pt x="10345" y="426469"/>
                    <a:pt x="0" y="416124"/>
                    <a:pt x="0" y="403362"/>
                  </a:cubicBezTo>
                  <a:lnTo>
                    <a:pt x="0" y="23107"/>
                  </a:lnTo>
                  <a:cubicBezTo>
                    <a:pt x="0" y="10345"/>
                    <a:pt x="10345" y="0"/>
                    <a:pt x="231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9A2C2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1588369" cy="426469"/>
            </a:xfrm>
            <a:prstGeom prst="rect">
              <a:avLst/>
            </a:prstGeom>
          </p:spPr>
          <p:txBody>
            <a:bodyPr lIns="33866" tIns="33866" rIns="33866" bIns="33866" rtlCol="0" anchor="ctr"/>
            <a:p>
              <a:pPr algn="ctr">
                <a:lnSpc>
                  <a:spcPts val="2725"/>
                </a:lnSpc>
              </a:pPr>
              <a:endParaRPr sz="1200"/>
            </a:p>
          </p:txBody>
        </p:sp>
      </p:grpSp>
      <p:grpSp>
        <p:nvGrpSpPr>
          <p:cNvPr id="47" name="Group 47"/>
          <p:cNvGrpSpPr/>
          <p:nvPr>
            <p:custDataLst>
              <p:tags r:id="rId21"/>
            </p:custDataLst>
          </p:nvPr>
        </p:nvGrpSpPr>
        <p:grpSpPr>
          <a:xfrm rot="0">
            <a:off x="7066915" y="3255645"/>
            <a:ext cx="4531995" cy="1079500"/>
            <a:chOff x="0" y="0"/>
            <a:chExt cx="1588369" cy="426469"/>
          </a:xfrm>
        </p:grpSpPr>
        <p:sp>
          <p:nvSpPr>
            <p:cNvPr id="48" name="Freeform 48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1588369" cy="426469"/>
            </a:xfrm>
            <a:custGeom>
              <a:avLst/>
              <a:gdLst/>
              <a:ahLst/>
              <a:cxnLst/>
              <a:rect l="l" t="t" r="r" b="b"/>
              <a:pathLst>
                <a:path w="1588369" h="426469">
                  <a:moveTo>
                    <a:pt x="23107" y="0"/>
                  </a:moveTo>
                  <a:lnTo>
                    <a:pt x="1565262" y="0"/>
                  </a:lnTo>
                  <a:cubicBezTo>
                    <a:pt x="1578023" y="0"/>
                    <a:pt x="1588369" y="10345"/>
                    <a:pt x="1588369" y="23107"/>
                  </a:cubicBezTo>
                  <a:lnTo>
                    <a:pt x="1588369" y="403362"/>
                  </a:lnTo>
                  <a:cubicBezTo>
                    <a:pt x="1588369" y="416124"/>
                    <a:pt x="1578023" y="426469"/>
                    <a:pt x="1565262" y="426469"/>
                  </a:cubicBezTo>
                  <a:lnTo>
                    <a:pt x="23107" y="426469"/>
                  </a:lnTo>
                  <a:cubicBezTo>
                    <a:pt x="10345" y="426469"/>
                    <a:pt x="0" y="416124"/>
                    <a:pt x="0" y="403362"/>
                  </a:cubicBezTo>
                  <a:lnTo>
                    <a:pt x="0" y="23107"/>
                  </a:lnTo>
                  <a:cubicBezTo>
                    <a:pt x="0" y="10345"/>
                    <a:pt x="10345" y="0"/>
                    <a:pt x="231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9A2C2"/>
              </a:soli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1588369" cy="426469"/>
            </a:xfrm>
            <a:prstGeom prst="rect">
              <a:avLst/>
            </a:prstGeom>
          </p:spPr>
          <p:txBody>
            <a:bodyPr lIns="33866" tIns="33866" rIns="33866" bIns="33866" rtlCol="0" anchor="ctr"/>
            <a:p>
              <a:pPr algn="ctr">
                <a:lnSpc>
                  <a:spcPts val="2725"/>
                </a:lnSpc>
              </a:pPr>
              <a:endParaRPr sz="1200"/>
            </a:p>
          </p:txBody>
        </p:sp>
      </p:grpSp>
      <p:grpSp>
        <p:nvGrpSpPr>
          <p:cNvPr id="53" name="Group 53"/>
          <p:cNvGrpSpPr/>
          <p:nvPr>
            <p:custDataLst>
              <p:tags r:id="rId23"/>
            </p:custDataLst>
          </p:nvPr>
        </p:nvGrpSpPr>
        <p:grpSpPr>
          <a:xfrm rot="0">
            <a:off x="7066915" y="5010785"/>
            <a:ext cx="4531995" cy="1079500"/>
            <a:chOff x="0" y="0"/>
            <a:chExt cx="1588369" cy="426469"/>
          </a:xfrm>
        </p:grpSpPr>
        <p:sp>
          <p:nvSpPr>
            <p:cNvPr id="54" name="Freeform 54"/>
            <p:cNvSpPr/>
            <p:nvPr>
              <p:custDataLst>
                <p:tags r:id="rId24"/>
              </p:custDataLst>
            </p:nvPr>
          </p:nvSpPr>
          <p:spPr>
            <a:xfrm>
              <a:off x="0" y="0"/>
              <a:ext cx="1588369" cy="426469"/>
            </a:xfrm>
            <a:custGeom>
              <a:avLst/>
              <a:gdLst/>
              <a:ahLst/>
              <a:cxnLst/>
              <a:rect l="l" t="t" r="r" b="b"/>
              <a:pathLst>
                <a:path w="1588369" h="426469">
                  <a:moveTo>
                    <a:pt x="23107" y="0"/>
                  </a:moveTo>
                  <a:lnTo>
                    <a:pt x="1565262" y="0"/>
                  </a:lnTo>
                  <a:cubicBezTo>
                    <a:pt x="1578023" y="0"/>
                    <a:pt x="1588369" y="10345"/>
                    <a:pt x="1588369" y="23107"/>
                  </a:cubicBezTo>
                  <a:lnTo>
                    <a:pt x="1588369" y="403362"/>
                  </a:lnTo>
                  <a:cubicBezTo>
                    <a:pt x="1588369" y="416124"/>
                    <a:pt x="1578023" y="426469"/>
                    <a:pt x="1565262" y="426469"/>
                  </a:cubicBezTo>
                  <a:lnTo>
                    <a:pt x="23107" y="426469"/>
                  </a:lnTo>
                  <a:cubicBezTo>
                    <a:pt x="10345" y="426469"/>
                    <a:pt x="0" y="416124"/>
                    <a:pt x="0" y="403362"/>
                  </a:cubicBezTo>
                  <a:lnTo>
                    <a:pt x="0" y="23107"/>
                  </a:lnTo>
                  <a:cubicBezTo>
                    <a:pt x="0" y="10345"/>
                    <a:pt x="10345" y="0"/>
                    <a:pt x="231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9A2C2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1588369" cy="426469"/>
            </a:xfrm>
            <a:prstGeom prst="rect">
              <a:avLst/>
            </a:prstGeom>
          </p:spPr>
          <p:txBody>
            <a:bodyPr lIns="33866" tIns="33866" rIns="33866" bIns="33866" rtlCol="0" anchor="ctr"/>
            <a:p>
              <a:pPr algn="ctr">
                <a:lnSpc>
                  <a:spcPts val="2725"/>
                </a:lnSpc>
              </a:pPr>
              <a:endParaRPr sz="1200"/>
            </a:p>
          </p:txBody>
        </p:sp>
      </p:grpSp>
      <p:sp>
        <p:nvSpPr>
          <p:cNvPr id="67" name="TextBox 67"/>
          <p:cNvSpPr txBox="1"/>
          <p:nvPr>
            <p:custDataLst>
              <p:tags r:id="rId25"/>
            </p:custDataLst>
          </p:nvPr>
        </p:nvSpPr>
        <p:spPr>
          <a:xfrm>
            <a:off x="7204710" y="1749425"/>
            <a:ext cx="4201795" cy="365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just">
              <a:lnSpc>
                <a:spcPts val="2855"/>
              </a:lnSpc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2" panose="020B0500000000000000" charset="-122"/>
              </a:rPr>
              <a:t>早期美国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2" panose="020B0500000000000000" charset="-122"/>
              </a:rPr>
              <a:t>GPS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2" panose="020B0500000000000000" charset="-122"/>
              </a:rPr>
              <a:t>系统奠定基础，实现全球覆盖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2" panose="020B0500000000000000" charset="-122"/>
            </a:endParaRPr>
          </a:p>
        </p:txBody>
      </p:sp>
      <p:sp>
        <p:nvSpPr>
          <p:cNvPr id="68" name="TextBox 68"/>
          <p:cNvSpPr txBox="1"/>
          <p:nvPr>
            <p:custDataLst>
              <p:tags r:id="rId26"/>
            </p:custDataLst>
          </p:nvPr>
        </p:nvSpPr>
        <p:spPr>
          <a:xfrm>
            <a:off x="7190740" y="3361690"/>
            <a:ext cx="4286885" cy="732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just">
              <a:lnSpc>
                <a:spcPts val="2855"/>
              </a:lnSpc>
            </a:pP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2" panose="020B0500000000000000" charset="-122"/>
              </a:rPr>
              <a:t>GPS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2" panose="020B0500000000000000" charset="-122"/>
              </a:rPr>
              <a:t>持续升级，精度提升至米级以内，同时欧盟伽利略、俄罗斯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2" panose="020B0500000000000000" charset="-122"/>
              </a:rPr>
              <a:t>GLONASS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2" panose="020B0500000000000000" charset="-122"/>
              </a:rPr>
              <a:t>等系统发展迅速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2" panose="020B0500000000000000" charset="-122"/>
            </a:endParaRPr>
          </a:p>
        </p:txBody>
      </p:sp>
      <p:sp>
        <p:nvSpPr>
          <p:cNvPr id="69" name="TextBox 69"/>
          <p:cNvSpPr txBox="1"/>
          <p:nvPr>
            <p:custDataLst>
              <p:tags r:id="rId27"/>
            </p:custDataLst>
          </p:nvPr>
        </p:nvSpPr>
        <p:spPr>
          <a:xfrm>
            <a:off x="7204710" y="5176520"/>
            <a:ext cx="4201795" cy="732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just">
              <a:lnSpc>
                <a:spcPts val="2855"/>
              </a:lnSpc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2" panose="020B0500000000000000" charset="-122"/>
              </a:rPr>
              <a:t>超宽带（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2" panose="020B0500000000000000" charset="-122"/>
              </a:rPr>
              <a:t>UWB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2" panose="020B0500000000000000" charset="-122"/>
              </a:rPr>
              <a:t>）技术、量子定位技术，多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2" panose="020B0500000000000000" charset="-122"/>
              </a:rPr>
              <a:t>技术融合与低轨导航星座探索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2" panose="020B0500000000000000" charset="-122"/>
            </a:endParaRPr>
          </a:p>
        </p:txBody>
      </p:sp>
      <p:sp>
        <p:nvSpPr>
          <p:cNvPr id="72" name="Freeform 72"/>
          <p:cNvSpPr/>
          <p:nvPr>
            <p:custDataLst>
              <p:tags r:id="rId28"/>
            </p:custDataLst>
          </p:nvPr>
        </p:nvSpPr>
        <p:spPr>
          <a:xfrm rot="5400000">
            <a:off x="5793105" y="4525010"/>
            <a:ext cx="604520" cy="366395"/>
          </a:xfrm>
          <a:custGeom>
            <a:avLst/>
            <a:gdLst/>
            <a:ahLst/>
            <a:cxnLst/>
            <a:rect l="l" t="t" r="r" b="b"/>
            <a:pathLst>
              <a:path w="812800" h="533400">
                <a:moveTo>
                  <a:pt x="273050" y="0"/>
                </a:moveTo>
                <a:lnTo>
                  <a:pt x="0" y="266700"/>
                </a:lnTo>
                <a:lnTo>
                  <a:pt x="273050" y="533400"/>
                </a:lnTo>
                <a:lnTo>
                  <a:pt x="273050" y="400050"/>
                </a:lnTo>
                <a:lnTo>
                  <a:pt x="539750" y="400050"/>
                </a:lnTo>
                <a:lnTo>
                  <a:pt x="539750" y="533400"/>
                </a:lnTo>
                <a:lnTo>
                  <a:pt x="812800" y="266700"/>
                </a:lnTo>
                <a:lnTo>
                  <a:pt x="539750" y="0"/>
                </a:lnTo>
                <a:lnTo>
                  <a:pt x="539750" y="133350"/>
                </a:lnTo>
                <a:lnTo>
                  <a:pt x="273050" y="133350"/>
                </a:lnTo>
                <a:lnTo>
                  <a:pt x="273050" y="0"/>
                </a:lnTo>
                <a:close/>
              </a:path>
            </a:pathLst>
          </a:custGeom>
          <a:solidFill>
            <a:srgbClr val="C3D0F9"/>
          </a:solidFill>
        </p:spPr>
      </p:sp>
      <p:sp>
        <p:nvSpPr>
          <p:cNvPr id="3" name="Text 2"/>
          <p:cNvSpPr/>
          <p:nvPr>
            <p:custDataLst>
              <p:tags r:id="rId29"/>
            </p:custDataLst>
          </p:nvPr>
        </p:nvSpPr>
        <p:spPr>
          <a:xfrm>
            <a:off x="4668520" y="1915795"/>
            <a:ext cx="2853690" cy="71374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早期</a:t>
            </a:r>
            <a:endParaRPr lang="zh-CN" altLang="en-US" sz="2400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9" name="Text 5"/>
          <p:cNvSpPr/>
          <p:nvPr>
            <p:custDataLst>
              <p:tags r:id="rId30"/>
            </p:custDataLst>
          </p:nvPr>
        </p:nvSpPr>
        <p:spPr>
          <a:xfrm>
            <a:off x="4668520" y="3644900"/>
            <a:ext cx="2853690" cy="71437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突破性</a:t>
            </a:r>
            <a:endParaRPr lang="zh-CN" altLang="en-US" sz="2400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0" name="Text 8"/>
          <p:cNvSpPr/>
          <p:nvPr>
            <p:custDataLst>
              <p:tags r:id="rId31"/>
            </p:custDataLst>
          </p:nvPr>
        </p:nvSpPr>
        <p:spPr>
          <a:xfrm>
            <a:off x="4668520" y="5400040"/>
            <a:ext cx="2853690" cy="71374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目前</a:t>
            </a:r>
            <a:endParaRPr lang="zh-CN" altLang="en-US" sz="2400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74" name="Text 3"/>
          <p:cNvSpPr/>
          <p:nvPr>
            <p:custDataLst>
              <p:tags r:id="rId32"/>
            </p:custDataLst>
          </p:nvPr>
        </p:nvSpPr>
        <p:spPr>
          <a:xfrm>
            <a:off x="1067435" y="1567815"/>
            <a:ext cx="4110990" cy="73914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基于传统机器学习，高度依赖人工设计的特征。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后续发展出结合表象特征与子空间分析的算法。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Text 6"/>
          <p:cNvSpPr/>
          <p:nvPr>
            <p:custDataLst>
              <p:tags r:id="rId33"/>
            </p:custDataLst>
          </p:nvPr>
        </p:nvSpPr>
        <p:spPr>
          <a:xfrm>
            <a:off x="1068070" y="3255010"/>
            <a:ext cx="4057015" cy="83883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深度学习的兴起。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卷积神经网络，摆脱了对人工特征工程的依赖，并支持端到端的训练模式。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Text 9"/>
          <p:cNvSpPr/>
          <p:nvPr>
            <p:custDataLst>
              <p:tags r:id="rId34"/>
            </p:custDataLst>
          </p:nvPr>
        </p:nvSpPr>
        <p:spPr>
          <a:xfrm>
            <a:off x="1067435" y="5010785"/>
            <a:ext cx="3949700" cy="82804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多模态融合成为主流趋势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同时，为应对数据隐私与安全威胁，联邦学习、同态加密等隐私计算技术被引入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785495" y="31559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国外研究动态</a:t>
            </a:r>
            <a:endParaRPr lang="zh-CN" altLang="en-US" sz="3200" b="1"/>
          </a:p>
        </p:txBody>
      </p:sp>
      <p:sp>
        <p:nvSpPr>
          <p:cNvPr id="79" name="Shape 3"/>
          <p:cNvSpPr/>
          <p:nvPr>
            <p:custDataLst>
              <p:tags r:id="rId35"/>
            </p:custDataLst>
          </p:nvPr>
        </p:nvSpPr>
        <p:spPr>
          <a:xfrm>
            <a:off x="1569085" y="89916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A7BD5"/>
          </a:solidFill>
        </p:spPr>
      </p:sp>
      <p:sp>
        <p:nvSpPr>
          <p:cNvPr id="80" name="Shape 4"/>
          <p:cNvSpPr/>
          <p:nvPr>
            <p:custDataLst>
              <p:tags r:id="rId36"/>
            </p:custDataLst>
          </p:nvPr>
        </p:nvSpPr>
        <p:spPr>
          <a:xfrm>
            <a:off x="1683385" y="105156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80962" y="76200"/>
                </a:moveTo>
                <a:cubicBezTo>
                  <a:pt x="80962" y="36773"/>
                  <a:pt x="112973" y="4763"/>
                  <a:pt x="152400" y="4763"/>
                </a:cubicBezTo>
                <a:cubicBezTo>
                  <a:pt x="191827" y="4763"/>
                  <a:pt x="223838" y="36773"/>
                  <a:pt x="223838" y="76200"/>
                </a:cubicBezTo>
                <a:cubicBezTo>
                  <a:pt x="223838" y="115627"/>
                  <a:pt x="191827" y="147638"/>
                  <a:pt x="152400" y="147638"/>
                </a:cubicBezTo>
                <a:cubicBezTo>
                  <a:pt x="112973" y="147638"/>
                  <a:pt x="80962" y="115627"/>
                  <a:pt x="80962" y="76200"/>
                </a:cubicBezTo>
                <a:close/>
                <a:moveTo>
                  <a:pt x="28575" y="287119"/>
                </a:moveTo>
                <a:cubicBezTo>
                  <a:pt x="28575" y="228481"/>
                  <a:pt x="76081" y="180975"/>
                  <a:pt x="134719" y="180975"/>
                </a:cubicBezTo>
                <a:lnTo>
                  <a:pt x="170081" y="180975"/>
                </a:lnTo>
                <a:cubicBezTo>
                  <a:pt x="228719" y="180975"/>
                  <a:pt x="276225" y="228481"/>
                  <a:pt x="276225" y="287119"/>
                </a:cubicBezTo>
                <a:cubicBezTo>
                  <a:pt x="276225" y="296882"/>
                  <a:pt x="268307" y="304800"/>
                  <a:pt x="258544" y="304800"/>
                </a:cubicBezTo>
                <a:lnTo>
                  <a:pt x="46256" y="304800"/>
                </a:lnTo>
                <a:cubicBezTo>
                  <a:pt x="36493" y="304800"/>
                  <a:pt x="28575" y="296882"/>
                  <a:pt x="28575" y="287119"/>
                </a:cubicBezTo>
                <a:close/>
                <a:moveTo>
                  <a:pt x="364569" y="78998"/>
                </a:moveTo>
                <a:lnTo>
                  <a:pt x="316944" y="155198"/>
                </a:lnTo>
                <a:cubicBezTo>
                  <a:pt x="314444" y="159187"/>
                  <a:pt x="310158" y="161687"/>
                  <a:pt x="305455" y="161925"/>
                </a:cubicBezTo>
                <a:cubicBezTo>
                  <a:pt x="300752" y="162163"/>
                  <a:pt x="296228" y="160020"/>
                  <a:pt x="293430" y="156210"/>
                </a:cubicBezTo>
                <a:lnTo>
                  <a:pt x="264855" y="118110"/>
                </a:lnTo>
                <a:cubicBezTo>
                  <a:pt x="260092" y="111800"/>
                  <a:pt x="261402" y="102870"/>
                  <a:pt x="267712" y="98108"/>
                </a:cubicBezTo>
                <a:cubicBezTo>
                  <a:pt x="274022" y="93345"/>
                  <a:pt x="282952" y="94655"/>
                  <a:pt x="287715" y="100965"/>
                </a:cubicBezTo>
                <a:lnTo>
                  <a:pt x="303788" y="122396"/>
                </a:lnTo>
                <a:lnTo>
                  <a:pt x="340340" y="63877"/>
                </a:lnTo>
                <a:cubicBezTo>
                  <a:pt x="344507" y="57210"/>
                  <a:pt x="353318" y="55126"/>
                  <a:pt x="360045" y="59353"/>
                </a:cubicBezTo>
                <a:cubicBezTo>
                  <a:pt x="366772" y="63579"/>
                  <a:pt x="368796" y="72330"/>
                  <a:pt x="364569" y="7905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1" name="Text 5"/>
          <p:cNvSpPr/>
          <p:nvPr>
            <p:custDataLst>
              <p:tags r:id="rId37"/>
            </p:custDataLst>
          </p:nvPr>
        </p:nvSpPr>
        <p:spPr>
          <a:xfrm>
            <a:off x="2381885" y="1000760"/>
            <a:ext cx="1727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3A7BD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人脸识别</a:t>
            </a:r>
            <a:endParaRPr lang="en-US" sz="2400" b="1" dirty="0">
              <a:solidFill>
                <a:srgbClr val="3A7BD5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2" name="Shape 16"/>
          <p:cNvSpPr/>
          <p:nvPr>
            <p:custDataLst>
              <p:tags r:id="rId38"/>
            </p:custDataLst>
          </p:nvPr>
        </p:nvSpPr>
        <p:spPr>
          <a:xfrm>
            <a:off x="7512685" y="89916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A7BD5"/>
          </a:solidFill>
        </p:spPr>
      </p:sp>
      <p:sp>
        <p:nvSpPr>
          <p:cNvPr id="83" name="Shape 17"/>
          <p:cNvSpPr/>
          <p:nvPr>
            <p:custDataLst>
              <p:tags r:id="rId39"/>
            </p:custDataLst>
          </p:nvPr>
        </p:nvSpPr>
        <p:spPr>
          <a:xfrm>
            <a:off x="7703185" y="105156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112276"/>
                </a:moveTo>
                <a:cubicBezTo>
                  <a:pt x="0" y="50244"/>
                  <a:pt x="51197" y="0"/>
                  <a:pt x="114300" y="0"/>
                </a:cubicBezTo>
                <a:cubicBezTo>
                  <a:pt x="177403" y="0"/>
                  <a:pt x="228600" y="50244"/>
                  <a:pt x="228600" y="112276"/>
                </a:cubicBezTo>
                <a:cubicBezTo>
                  <a:pt x="228600" y="183297"/>
                  <a:pt x="157043" y="268426"/>
                  <a:pt x="127159" y="300871"/>
                </a:cubicBezTo>
                <a:cubicBezTo>
                  <a:pt x="120134" y="308491"/>
                  <a:pt x="108406" y="308491"/>
                  <a:pt x="101382" y="300871"/>
                </a:cubicBezTo>
                <a:cubicBezTo>
                  <a:pt x="71497" y="268426"/>
                  <a:pt x="-60" y="183297"/>
                  <a:pt x="-60" y="112276"/>
                </a:cubicBezTo>
                <a:close/>
                <a:moveTo>
                  <a:pt x="114300" y="152400"/>
                </a:moveTo>
                <a:cubicBezTo>
                  <a:pt x="135328" y="152400"/>
                  <a:pt x="152400" y="135328"/>
                  <a:pt x="152400" y="114300"/>
                </a:cubicBezTo>
                <a:cubicBezTo>
                  <a:pt x="152400" y="93272"/>
                  <a:pt x="135328" y="76200"/>
                  <a:pt x="114300" y="76200"/>
                </a:cubicBezTo>
                <a:cubicBezTo>
                  <a:pt x="93272" y="76200"/>
                  <a:pt x="76200" y="93272"/>
                  <a:pt x="76200" y="114300"/>
                </a:cubicBezTo>
                <a:cubicBezTo>
                  <a:pt x="76200" y="135328"/>
                  <a:pt x="93272" y="152400"/>
                  <a:pt x="114300" y="1524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4" name="Text 18"/>
          <p:cNvSpPr/>
          <p:nvPr>
            <p:custDataLst>
              <p:tags r:id="rId40"/>
            </p:custDataLst>
          </p:nvPr>
        </p:nvSpPr>
        <p:spPr>
          <a:xfrm>
            <a:off x="8325485" y="1000760"/>
            <a:ext cx="1727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3A7BD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定位技术</a:t>
            </a:r>
            <a:endParaRPr lang="en-US" sz="2400" b="1" dirty="0">
              <a:solidFill>
                <a:srgbClr val="3A7BD5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5-d2tarmdnfo2stf9djk4g.jp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18547" y="60023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5" name="Image 1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740000">
            <a:off x="10302240" y="1341755"/>
            <a:ext cx="805815" cy="8477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31399" y="58131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1399" y="58131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31399" y="59101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1399" y="59101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31399" y="60071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1399" y="60071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2"/>
          <p:cNvSpPr/>
          <p:nvPr/>
        </p:nvSpPr>
        <p:spPr>
          <a:xfrm>
            <a:off x="254000" y="1041400"/>
            <a:ext cx="5740400" cy="5232400"/>
          </a:xfrm>
          <a:custGeom>
            <a:avLst/>
            <a:gdLst/>
            <a:ahLst/>
            <a:cxnLst/>
            <a:rect l="l" t="t" r="r" b="b"/>
            <a:pathLst>
              <a:path w="5740400" h="5232400">
                <a:moveTo>
                  <a:pt x="101613" y="0"/>
                </a:moveTo>
                <a:lnTo>
                  <a:pt x="5638787" y="0"/>
                </a:lnTo>
                <a:cubicBezTo>
                  <a:pt x="5694906" y="0"/>
                  <a:pt x="5740400" y="45494"/>
                  <a:pt x="5740400" y="101613"/>
                </a:cubicBezTo>
                <a:lnTo>
                  <a:pt x="5740400" y="5130787"/>
                </a:lnTo>
                <a:cubicBezTo>
                  <a:pt x="5740400" y="5186906"/>
                  <a:pt x="5694906" y="5232400"/>
                  <a:pt x="5638787" y="5232400"/>
                </a:cubicBezTo>
                <a:lnTo>
                  <a:pt x="101613" y="5232400"/>
                </a:lnTo>
                <a:cubicBezTo>
                  <a:pt x="45494" y="5232400"/>
                  <a:pt x="0" y="5186906"/>
                  <a:pt x="0" y="5130787"/>
                </a:cubicBezTo>
                <a:lnTo>
                  <a:pt x="0" y="101613"/>
                </a:lnTo>
                <a:cubicBezTo>
                  <a:pt x="0" y="45531"/>
                  <a:pt x="45531" y="0"/>
                  <a:pt x="101613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</p:spPr>
      </p:sp>
      <p:sp>
        <p:nvSpPr>
          <p:cNvPr id="20" name="Shape 3"/>
          <p:cNvSpPr/>
          <p:nvPr/>
        </p:nvSpPr>
        <p:spPr>
          <a:xfrm>
            <a:off x="457200" y="1244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A7BD5"/>
          </a:solidFill>
        </p:spPr>
      </p:sp>
      <p:sp>
        <p:nvSpPr>
          <p:cNvPr id="21" name="Shape 4"/>
          <p:cNvSpPr/>
          <p:nvPr/>
        </p:nvSpPr>
        <p:spPr>
          <a:xfrm>
            <a:off x="571500" y="13970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80962" y="76200"/>
                </a:moveTo>
                <a:cubicBezTo>
                  <a:pt x="80962" y="36773"/>
                  <a:pt x="112973" y="4763"/>
                  <a:pt x="152400" y="4763"/>
                </a:cubicBezTo>
                <a:cubicBezTo>
                  <a:pt x="191827" y="4763"/>
                  <a:pt x="223838" y="36773"/>
                  <a:pt x="223838" y="76200"/>
                </a:cubicBezTo>
                <a:cubicBezTo>
                  <a:pt x="223838" y="115627"/>
                  <a:pt x="191827" y="147638"/>
                  <a:pt x="152400" y="147638"/>
                </a:cubicBezTo>
                <a:cubicBezTo>
                  <a:pt x="112973" y="147638"/>
                  <a:pt x="80962" y="115627"/>
                  <a:pt x="80962" y="76200"/>
                </a:cubicBezTo>
                <a:close/>
                <a:moveTo>
                  <a:pt x="28575" y="287119"/>
                </a:moveTo>
                <a:cubicBezTo>
                  <a:pt x="28575" y="228481"/>
                  <a:pt x="76081" y="180975"/>
                  <a:pt x="134719" y="180975"/>
                </a:cubicBezTo>
                <a:lnTo>
                  <a:pt x="170081" y="180975"/>
                </a:lnTo>
                <a:cubicBezTo>
                  <a:pt x="228719" y="180975"/>
                  <a:pt x="276225" y="228481"/>
                  <a:pt x="276225" y="287119"/>
                </a:cubicBezTo>
                <a:cubicBezTo>
                  <a:pt x="276225" y="296882"/>
                  <a:pt x="268307" y="304800"/>
                  <a:pt x="258544" y="304800"/>
                </a:cubicBezTo>
                <a:lnTo>
                  <a:pt x="46256" y="304800"/>
                </a:lnTo>
                <a:cubicBezTo>
                  <a:pt x="36493" y="304800"/>
                  <a:pt x="28575" y="296882"/>
                  <a:pt x="28575" y="287119"/>
                </a:cubicBezTo>
                <a:close/>
                <a:moveTo>
                  <a:pt x="364569" y="78998"/>
                </a:moveTo>
                <a:lnTo>
                  <a:pt x="316944" y="155198"/>
                </a:lnTo>
                <a:cubicBezTo>
                  <a:pt x="314444" y="159187"/>
                  <a:pt x="310158" y="161687"/>
                  <a:pt x="305455" y="161925"/>
                </a:cubicBezTo>
                <a:cubicBezTo>
                  <a:pt x="300752" y="162163"/>
                  <a:pt x="296228" y="160020"/>
                  <a:pt x="293430" y="156210"/>
                </a:cubicBezTo>
                <a:lnTo>
                  <a:pt x="264855" y="118110"/>
                </a:lnTo>
                <a:cubicBezTo>
                  <a:pt x="260092" y="111800"/>
                  <a:pt x="261402" y="102870"/>
                  <a:pt x="267712" y="98108"/>
                </a:cubicBezTo>
                <a:cubicBezTo>
                  <a:pt x="274022" y="93345"/>
                  <a:pt x="282952" y="94655"/>
                  <a:pt x="287715" y="100965"/>
                </a:cubicBezTo>
                <a:lnTo>
                  <a:pt x="303788" y="122396"/>
                </a:lnTo>
                <a:lnTo>
                  <a:pt x="340340" y="63877"/>
                </a:lnTo>
                <a:cubicBezTo>
                  <a:pt x="344507" y="57210"/>
                  <a:pt x="353318" y="55126"/>
                  <a:pt x="360045" y="59353"/>
                </a:cubicBezTo>
                <a:cubicBezTo>
                  <a:pt x="366772" y="63579"/>
                  <a:pt x="368796" y="72330"/>
                  <a:pt x="364569" y="7905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5"/>
          <p:cNvSpPr/>
          <p:nvPr/>
        </p:nvSpPr>
        <p:spPr>
          <a:xfrm>
            <a:off x="1270000" y="1346200"/>
            <a:ext cx="1727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3A7BD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人脸识别</a:t>
            </a:r>
            <a:endParaRPr lang="en-US" sz="2400" b="1" dirty="0">
              <a:solidFill>
                <a:srgbClr val="3A7BD5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457200" y="2260600"/>
            <a:ext cx="5334000" cy="863600"/>
          </a:xfrm>
          <a:custGeom>
            <a:avLst/>
            <a:gdLst/>
            <a:ahLst/>
            <a:cxnLst/>
            <a:rect l="l" t="t" r="r" b="b"/>
            <a:pathLst>
              <a:path w="5334000" h="863600">
                <a:moveTo>
                  <a:pt x="76204" y="0"/>
                </a:moveTo>
                <a:lnTo>
                  <a:pt x="5257796" y="0"/>
                </a:lnTo>
                <a:cubicBezTo>
                  <a:pt x="5299882" y="0"/>
                  <a:pt x="5334000" y="34118"/>
                  <a:pt x="5334000" y="76204"/>
                </a:cubicBezTo>
                <a:lnTo>
                  <a:pt x="5334000" y="787396"/>
                </a:lnTo>
                <a:cubicBezTo>
                  <a:pt x="5334000" y="829482"/>
                  <a:pt x="5299882" y="863600"/>
                  <a:pt x="5257796" y="863600"/>
                </a:cubicBezTo>
                <a:lnTo>
                  <a:pt x="76204" y="863600"/>
                </a:lnTo>
                <a:cubicBezTo>
                  <a:pt x="34118" y="863600"/>
                  <a:pt x="0" y="829482"/>
                  <a:pt x="0" y="7873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</p:sp>
      <p:sp>
        <p:nvSpPr>
          <p:cNvPr id="24" name="Text 7"/>
          <p:cNvSpPr/>
          <p:nvPr/>
        </p:nvSpPr>
        <p:spPr>
          <a:xfrm>
            <a:off x="531495" y="2260600"/>
            <a:ext cx="553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早期：</a:t>
            </a:r>
            <a:r>
              <a:rPr lang="zh-CN" altLang="en-US" sz="1600" dirty="0">
                <a:solidFill>
                  <a:srgbClr val="00408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传统机器学习、</a:t>
            </a:r>
            <a:r>
              <a:rPr lang="en-US" sz="1600" dirty="0">
                <a:solidFill>
                  <a:srgbClr val="00408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手工特征</a:t>
            </a:r>
            <a:endParaRPr lang="en-US" sz="1600" dirty="0">
              <a:solidFill>
                <a:srgbClr val="00408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5" name="Text 8"/>
          <p:cNvSpPr/>
          <p:nvPr/>
        </p:nvSpPr>
        <p:spPr>
          <a:xfrm>
            <a:off x="609600" y="2768600"/>
            <a:ext cx="5029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依赖 </a:t>
            </a:r>
            <a:r>
              <a:rPr lang="en-US" sz="1600" b="1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P</a:t>
            </a:r>
            <a:r>
              <a:rPr lang="en-US" sz="1600" b="1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CA, LBP, Haar</a:t>
            </a:r>
            <a:r>
              <a:rPr lang="en-US" sz="1600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等传统方法，受光照、遮挡影响大，精度有限。</a:t>
            </a:r>
            <a:endParaRPr lang="en-US" sz="1600" dirty="0"/>
          </a:p>
        </p:txBody>
      </p:sp>
      <p:sp>
        <p:nvSpPr>
          <p:cNvPr id="26" name="Shape 9"/>
          <p:cNvSpPr/>
          <p:nvPr/>
        </p:nvSpPr>
        <p:spPr>
          <a:xfrm>
            <a:off x="457200" y="3632200"/>
            <a:ext cx="5334000" cy="863600"/>
          </a:xfrm>
          <a:custGeom>
            <a:avLst/>
            <a:gdLst/>
            <a:ahLst/>
            <a:cxnLst/>
            <a:rect l="l" t="t" r="r" b="b"/>
            <a:pathLst>
              <a:path w="5334000" h="863600">
                <a:moveTo>
                  <a:pt x="76204" y="0"/>
                </a:moveTo>
                <a:lnTo>
                  <a:pt x="5257796" y="0"/>
                </a:lnTo>
                <a:cubicBezTo>
                  <a:pt x="5299882" y="0"/>
                  <a:pt x="5334000" y="34118"/>
                  <a:pt x="5334000" y="76204"/>
                </a:cubicBezTo>
                <a:lnTo>
                  <a:pt x="5334000" y="787396"/>
                </a:lnTo>
                <a:cubicBezTo>
                  <a:pt x="5334000" y="829482"/>
                  <a:pt x="5299882" y="863600"/>
                  <a:pt x="5257796" y="863600"/>
                </a:cubicBezTo>
                <a:lnTo>
                  <a:pt x="76204" y="863600"/>
                </a:lnTo>
                <a:cubicBezTo>
                  <a:pt x="34118" y="863600"/>
                  <a:pt x="0" y="829482"/>
                  <a:pt x="0" y="7873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</p:sp>
      <p:sp>
        <p:nvSpPr>
          <p:cNvPr id="27" name="Text 10"/>
          <p:cNvSpPr/>
          <p:nvPr/>
        </p:nvSpPr>
        <p:spPr>
          <a:xfrm>
            <a:off x="609600" y="3591560"/>
            <a:ext cx="553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突破：深度学习</a:t>
            </a:r>
            <a:endParaRPr lang="en-US" sz="1600" dirty="0">
              <a:solidFill>
                <a:srgbClr val="00408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609600" y="4140200"/>
            <a:ext cx="5029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CNN (卷积神经网络) </a:t>
            </a: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实现特征自学习，识别精度实现质的飞跃。</a:t>
            </a:r>
            <a:endParaRPr lang="en-US" sz="1600" dirty="0"/>
          </a:p>
        </p:txBody>
      </p:sp>
      <p:sp>
        <p:nvSpPr>
          <p:cNvPr id="29" name="Shape 12"/>
          <p:cNvSpPr/>
          <p:nvPr/>
        </p:nvSpPr>
        <p:spPr>
          <a:xfrm>
            <a:off x="457200" y="5003800"/>
            <a:ext cx="5334000" cy="863600"/>
          </a:xfrm>
          <a:custGeom>
            <a:avLst/>
            <a:gdLst/>
            <a:ahLst/>
            <a:cxnLst/>
            <a:rect l="l" t="t" r="r" b="b"/>
            <a:pathLst>
              <a:path w="5334000" h="863600">
                <a:moveTo>
                  <a:pt x="76204" y="0"/>
                </a:moveTo>
                <a:lnTo>
                  <a:pt x="5257796" y="0"/>
                </a:lnTo>
                <a:cubicBezTo>
                  <a:pt x="5299882" y="0"/>
                  <a:pt x="5334000" y="34118"/>
                  <a:pt x="5334000" y="76204"/>
                </a:cubicBezTo>
                <a:lnTo>
                  <a:pt x="5334000" y="787396"/>
                </a:lnTo>
                <a:cubicBezTo>
                  <a:pt x="5334000" y="829482"/>
                  <a:pt x="5299882" y="863600"/>
                  <a:pt x="5257796" y="863600"/>
                </a:cubicBezTo>
                <a:lnTo>
                  <a:pt x="76204" y="863600"/>
                </a:lnTo>
                <a:cubicBezTo>
                  <a:pt x="34118" y="863600"/>
                  <a:pt x="0" y="829482"/>
                  <a:pt x="0" y="7873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</p:sp>
      <p:sp>
        <p:nvSpPr>
          <p:cNvPr id="30" name="Text 13"/>
          <p:cNvSpPr/>
          <p:nvPr/>
        </p:nvSpPr>
        <p:spPr>
          <a:xfrm>
            <a:off x="609600" y="4963160"/>
            <a:ext cx="553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当前：前沿热点</a:t>
            </a:r>
            <a:endParaRPr lang="en-US" sz="1600" dirty="0">
              <a:solidFill>
                <a:srgbClr val="00408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609600" y="5511800"/>
            <a:ext cx="5029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探索 </a:t>
            </a:r>
            <a:r>
              <a:rPr lang="en-US" sz="1600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1600" b="1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多模态融合</a:t>
            </a:r>
            <a:r>
              <a:rPr lang="en-US" sz="1600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与 </a:t>
            </a:r>
            <a:r>
              <a:rPr lang="en-US" sz="1600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1600" b="1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隐私安全</a:t>
            </a:r>
            <a:r>
              <a:rPr lang="en-US" sz="1600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(联邦学习) 技术。</a:t>
            </a:r>
            <a:endParaRPr lang="en-US" sz="1600" dirty="0"/>
          </a:p>
        </p:txBody>
      </p:sp>
      <p:sp>
        <p:nvSpPr>
          <p:cNvPr id="32" name="Shape 15"/>
          <p:cNvSpPr/>
          <p:nvPr/>
        </p:nvSpPr>
        <p:spPr>
          <a:xfrm>
            <a:off x="6197600" y="1041400"/>
            <a:ext cx="5740400" cy="5232400"/>
          </a:xfrm>
          <a:custGeom>
            <a:avLst/>
            <a:gdLst/>
            <a:ahLst/>
            <a:cxnLst/>
            <a:rect l="l" t="t" r="r" b="b"/>
            <a:pathLst>
              <a:path w="5740400" h="5232400">
                <a:moveTo>
                  <a:pt x="101613" y="0"/>
                </a:moveTo>
                <a:lnTo>
                  <a:pt x="5638787" y="0"/>
                </a:lnTo>
                <a:cubicBezTo>
                  <a:pt x="5694906" y="0"/>
                  <a:pt x="5740400" y="45494"/>
                  <a:pt x="5740400" y="101613"/>
                </a:cubicBezTo>
                <a:lnTo>
                  <a:pt x="5740400" y="5130787"/>
                </a:lnTo>
                <a:cubicBezTo>
                  <a:pt x="5740400" y="5186906"/>
                  <a:pt x="5694906" y="5232400"/>
                  <a:pt x="5638787" y="5232400"/>
                </a:cubicBezTo>
                <a:lnTo>
                  <a:pt x="101613" y="5232400"/>
                </a:lnTo>
                <a:cubicBezTo>
                  <a:pt x="45494" y="5232400"/>
                  <a:pt x="0" y="5186906"/>
                  <a:pt x="0" y="5130787"/>
                </a:cubicBezTo>
                <a:lnTo>
                  <a:pt x="0" y="101613"/>
                </a:lnTo>
                <a:cubicBezTo>
                  <a:pt x="0" y="45531"/>
                  <a:pt x="45531" y="0"/>
                  <a:pt x="101613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</p:spPr>
      </p:sp>
      <p:sp>
        <p:nvSpPr>
          <p:cNvPr id="33" name="Shape 16"/>
          <p:cNvSpPr/>
          <p:nvPr/>
        </p:nvSpPr>
        <p:spPr>
          <a:xfrm>
            <a:off x="6400800" y="1244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A7BD5"/>
          </a:solidFill>
        </p:spPr>
      </p:sp>
      <p:sp>
        <p:nvSpPr>
          <p:cNvPr id="34" name="Shape 17"/>
          <p:cNvSpPr/>
          <p:nvPr/>
        </p:nvSpPr>
        <p:spPr>
          <a:xfrm>
            <a:off x="6591300" y="1397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112276"/>
                </a:moveTo>
                <a:cubicBezTo>
                  <a:pt x="0" y="50244"/>
                  <a:pt x="51197" y="0"/>
                  <a:pt x="114300" y="0"/>
                </a:cubicBezTo>
                <a:cubicBezTo>
                  <a:pt x="177403" y="0"/>
                  <a:pt x="228600" y="50244"/>
                  <a:pt x="228600" y="112276"/>
                </a:cubicBezTo>
                <a:cubicBezTo>
                  <a:pt x="228600" y="183297"/>
                  <a:pt x="157043" y="268426"/>
                  <a:pt x="127159" y="300871"/>
                </a:cubicBezTo>
                <a:cubicBezTo>
                  <a:pt x="120134" y="308491"/>
                  <a:pt x="108406" y="308491"/>
                  <a:pt x="101382" y="300871"/>
                </a:cubicBezTo>
                <a:cubicBezTo>
                  <a:pt x="71497" y="268426"/>
                  <a:pt x="-60" y="183297"/>
                  <a:pt x="-60" y="112276"/>
                </a:cubicBezTo>
                <a:close/>
                <a:moveTo>
                  <a:pt x="114300" y="152400"/>
                </a:moveTo>
                <a:cubicBezTo>
                  <a:pt x="135328" y="152400"/>
                  <a:pt x="152400" y="135328"/>
                  <a:pt x="152400" y="114300"/>
                </a:cubicBezTo>
                <a:cubicBezTo>
                  <a:pt x="152400" y="93272"/>
                  <a:pt x="135328" y="76200"/>
                  <a:pt x="114300" y="76200"/>
                </a:cubicBezTo>
                <a:cubicBezTo>
                  <a:pt x="93272" y="76200"/>
                  <a:pt x="76200" y="93272"/>
                  <a:pt x="76200" y="114300"/>
                </a:cubicBezTo>
                <a:cubicBezTo>
                  <a:pt x="76200" y="135328"/>
                  <a:pt x="93272" y="152400"/>
                  <a:pt x="114300" y="1524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5" name="Text 18"/>
          <p:cNvSpPr/>
          <p:nvPr/>
        </p:nvSpPr>
        <p:spPr>
          <a:xfrm>
            <a:off x="7213600" y="1346200"/>
            <a:ext cx="1727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3A7BD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定位技术</a:t>
            </a:r>
            <a:endParaRPr lang="en-US" sz="2400" b="1" dirty="0">
              <a:solidFill>
                <a:srgbClr val="3A7BD5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6" name="Shape 19"/>
          <p:cNvSpPr/>
          <p:nvPr/>
        </p:nvSpPr>
        <p:spPr>
          <a:xfrm>
            <a:off x="6400800" y="2260600"/>
            <a:ext cx="5334000" cy="863600"/>
          </a:xfrm>
          <a:custGeom>
            <a:avLst/>
            <a:gdLst/>
            <a:ahLst/>
            <a:cxnLst/>
            <a:rect l="l" t="t" r="r" b="b"/>
            <a:pathLst>
              <a:path w="5334000" h="863600">
                <a:moveTo>
                  <a:pt x="76204" y="0"/>
                </a:moveTo>
                <a:lnTo>
                  <a:pt x="5257796" y="0"/>
                </a:lnTo>
                <a:cubicBezTo>
                  <a:pt x="5299882" y="0"/>
                  <a:pt x="5334000" y="34118"/>
                  <a:pt x="5334000" y="76204"/>
                </a:cubicBezTo>
                <a:lnTo>
                  <a:pt x="5334000" y="787396"/>
                </a:lnTo>
                <a:cubicBezTo>
                  <a:pt x="5334000" y="829482"/>
                  <a:pt x="5299882" y="863600"/>
                  <a:pt x="5257796" y="863600"/>
                </a:cubicBezTo>
                <a:lnTo>
                  <a:pt x="76204" y="863600"/>
                </a:lnTo>
                <a:cubicBezTo>
                  <a:pt x="34118" y="863600"/>
                  <a:pt x="0" y="829482"/>
                  <a:pt x="0" y="7873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</p:sp>
      <p:sp>
        <p:nvSpPr>
          <p:cNvPr id="37" name="Text 20"/>
          <p:cNvSpPr/>
          <p:nvPr/>
        </p:nvSpPr>
        <p:spPr>
          <a:xfrm>
            <a:off x="6553200" y="2331720"/>
            <a:ext cx="553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早期：单一依赖</a:t>
            </a:r>
            <a:endParaRPr lang="en-US" sz="1600" dirty="0">
              <a:solidFill>
                <a:srgbClr val="00408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8" name="Text 21"/>
          <p:cNvSpPr/>
          <p:nvPr/>
        </p:nvSpPr>
        <p:spPr>
          <a:xfrm>
            <a:off x="6553200" y="2768600"/>
            <a:ext cx="5029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单GPS/北斗定位，</a:t>
            </a:r>
            <a:r>
              <a:rPr lang="en-US" sz="1600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1600" b="1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误差大、室内失效</a:t>
            </a:r>
            <a:r>
              <a:rPr lang="en-US" sz="1600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39" name="Shape 22"/>
          <p:cNvSpPr/>
          <p:nvPr/>
        </p:nvSpPr>
        <p:spPr>
          <a:xfrm>
            <a:off x="6400800" y="3632200"/>
            <a:ext cx="5334000" cy="863600"/>
          </a:xfrm>
          <a:custGeom>
            <a:avLst/>
            <a:gdLst/>
            <a:ahLst/>
            <a:cxnLst/>
            <a:rect l="l" t="t" r="r" b="b"/>
            <a:pathLst>
              <a:path w="5334000" h="863600">
                <a:moveTo>
                  <a:pt x="76204" y="0"/>
                </a:moveTo>
                <a:lnTo>
                  <a:pt x="5257796" y="0"/>
                </a:lnTo>
                <a:cubicBezTo>
                  <a:pt x="5299882" y="0"/>
                  <a:pt x="5334000" y="34118"/>
                  <a:pt x="5334000" y="76204"/>
                </a:cubicBezTo>
                <a:lnTo>
                  <a:pt x="5334000" y="787396"/>
                </a:lnTo>
                <a:cubicBezTo>
                  <a:pt x="5334000" y="829482"/>
                  <a:pt x="5299882" y="863600"/>
                  <a:pt x="5257796" y="863600"/>
                </a:cubicBezTo>
                <a:lnTo>
                  <a:pt x="76204" y="863600"/>
                </a:lnTo>
                <a:cubicBezTo>
                  <a:pt x="34118" y="863600"/>
                  <a:pt x="0" y="829482"/>
                  <a:pt x="0" y="7873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</p:sp>
      <p:sp>
        <p:nvSpPr>
          <p:cNvPr id="40" name="Text 23"/>
          <p:cNvSpPr/>
          <p:nvPr/>
        </p:nvSpPr>
        <p:spPr>
          <a:xfrm>
            <a:off x="6553200" y="3591560"/>
            <a:ext cx="553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突破：系统建成</a:t>
            </a:r>
            <a:endParaRPr lang="en-US" sz="1600" dirty="0">
              <a:solidFill>
                <a:srgbClr val="00408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6553200" y="4140200"/>
            <a:ext cx="5029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北斗/GNSS</a:t>
            </a:r>
            <a:r>
              <a:rPr lang="en-US" sz="1600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配合RTK技术，实现</a:t>
            </a:r>
            <a:r>
              <a:rPr lang="en-US" sz="1600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1600" b="1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厘米级高精度</a:t>
            </a:r>
            <a:r>
              <a:rPr lang="en-US" sz="1600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42" name="Shape 25"/>
          <p:cNvSpPr/>
          <p:nvPr/>
        </p:nvSpPr>
        <p:spPr>
          <a:xfrm>
            <a:off x="6400800" y="5003800"/>
            <a:ext cx="5334000" cy="863600"/>
          </a:xfrm>
          <a:custGeom>
            <a:avLst/>
            <a:gdLst/>
            <a:ahLst/>
            <a:cxnLst/>
            <a:rect l="l" t="t" r="r" b="b"/>
            <a:pathLst>
              <a:path w="5334000" h="863600">
                <a:moveTo>
                  <a:pt x="76204" y="0"/>
                </a:moveTo>
                <a:lnTo>
                  <a:pt x="5257796" y="0"/>
                </a:lnTo>
                <a:cubicBezTo>
                  <a:pt x="5299882" y="0"/>
                  <a:pt x="5334000" y="34118"/>
                  <a:pt x="5334000" y="76204"/>
                </a:cubicBezTo>
                <a:lnTo>
                  <a:pt x="5334000" y="787396"/>
                </a:lnTo>
                <a:cubicBezTo>
                  <a:pt x="5334000" y="829482"/>
                  <a:pt x="5299882" y="863600"/>
                  <a:pt x="5257796" y="863600"/>
                </a:cubicBezTo>
                <a:lnTo>
                  <a:pt x="76204" y="863600"/>
                </a:lnTo>
                <a:cubicBezTo>
                  <a:pt x="34118" y="863600"/>
                  <a:pt x="0" y="829482"/>
                  <a:pt x="0" y="7873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</p:sp>
      <p:sp>
        <p:nvSpPr>
          <p:cNvPr id="43" name="Text 26"/>
          <p:cNvSpPr/>
          <p:nvPr/>
        </p:nvSpPr>
        <p:spPr>
          <a:xfrm>
            <a:off x="6553200" y="4963160"/>
            <a:ext cx="553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当前：前沿热点</a:t>
            </a:r>
            <a:endParaRPr lang="en-US" sz="1600" dirty="0">
              <a:solidFill>
                <a:srgbClr val="00408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4" name="Text 27"/>
          <p:cNvSpPr/>
          <p:nvPr/>
        </p:nvSpPr>
        <p:spPr>
          <a:xfrm>
            <a:off x="6553200" y="5511800"/>
            <a:ext cx="5029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多源融合</a:t>
            </a:r>
            <a:r>
              <a:rPr lang="en-US" sz="1600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(GNSS+IMU+5G+视觉) 与 </a:t>
            </a:r>
            <a:r>
              <a:rPr lang="en-US" sz="1600" b="1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AI优化</a:t>
            </a:r>
            <a:r>
              <a:rPr lang="en-US" sz="1600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16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1015365" y="43751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国内研究动态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128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主要研究内容</a:t>
            </a:r>
            <a:endParaRPr lang="zh-CN" altLang="en-US" sz="3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5-d2tarmdnfo2stf9djk4g.jp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5" name="Image 1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740000">
            <a:off x="10302240" y="1341755"/>
            <a:ext cx="805815" cy="8477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Box 7"/>
          <p:cNvSpPr txBox="1"/>
          <p:nvPr/>
        </p:nvSpPr>
        <p:spPr>
          <a:xfrm>
            <a:off x="4023101" y="540385"/>
            <a:ext cx="4144529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7840"/>
              </a:lnSpc>
            </a:pPr>
            <a:r>
              <a:rPr lang="zh-CN" altLang="en-US" sz="3735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系统总目标</a:t>
            </a:r>
            <a:endParaRPr lang="en-US" sz="3735" spc="632">
              <a:solidFill>
                <a:srgbClr val="224070"/>
              </a:solidFill>
              <a:latin typeface="字由点字美玲体" panose="00020600040101000101" charset="-122"/>
              <a:ea typeface="字由点字美玲体" panose="00020600040101000101" charset="-122"/>
              <a:cs typeface="字由点字美玲体" panose="00020600040101000101" charset="-122"/>
              <a:sym typeface="字由点字美玲体" panose="00020600040101000101" charset="-122"/>
            </a:endParaRPr>
          </a:p>
        </p:txBody>
      </p:sp>
      <p:sp>
        <p:nvSpPr>
          <p:cNvPr id="19" name="AutoShape 8"/>
          <p:cNvSpPr/>
          <p:nvPr/>
        </p:nvSpPr>
        <p:spPr>
          <a:xfrm flipV="1">
            <a:off x="4992267" y="1378039"/>
            <a:ext cx="2207465" cy="0"/>
          </a:xfrm>
          <a:prstGeom prst="line">
            <a:avLst/>
          </a:prstGeom>
          <a:ln w="19050" cap="flat">
            <a:solidFill>
              <a:srgbClr val="C4CC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9"/>
          <p:cNvGrpSpPr/>
          <p:nvPr>
            <p:custDataLst>
              <p:tags r:id="rId3"/>
            </p:custDataLst>
          </p:nvPr>
        </p:nvGrpSpPr>
        <p:grpSpPr>
          <a:xfrm rot="5400000">
            <a:off x="6072825" y="-1304256"/>
            <a:ext cx="46351" cy="9024887"/>
            <a:chOff x="0" y="0"/>
            <a:chExt cx="18422" cy="3586980"/>
          </a:xfrm>
        </p:grpSpPr>
        <p:sp>
          <p:nvSpPr>
            <p:cNvPr id="21" name="Freeform 10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8422" cy="3586980"/>
            </a:xfrm>
            <a:custGeom>
              <a:avLst/>
              <a:gdLst/>
              <a:ahLst/>
              <a:cxnLst/>
              <a:rect l="l" t="t" r="r" b="b"/>
              <a:pathLst>
                <a:path w="18422" h="3586980">
                  <a:moveTo>
                    <a:pt x="0" y="0"/>
                  </a:moveTo>
                  <a:lnTo>
                    <a:pt x="18422" y="0"/>
                  </a:lnTo>
                  <a:lnTo>
                    <a:pt x="18422" y="3586980"/>
                  </a:lnTo>
                  <a:lnTo>
                    <a:pt x="0" y="3586980"/>
                  </a:lnTo>
                  <a:close/>
                </a:path>
              </a:pathLst>
            </a:custGeom>
            <a:solidFill>
              <a:srgbClr val="224070"/>
            </a:solidFill>
          </p:spPr>
        </p:sp>
        <p:sp>
          <p:nvSpPr>
            <p:cNvPr id="22" name="TextBox 11"/>
            <p:cNvSpPr txBox="1"/>
            <p:nvPr/>
          </p:nvSpPr>
          <p:spPr>
            <a:xfrm>
              <a:off x="0" y="-28575"/>
              <a:ext cx="18422" cy="3615555"/>
            </a:xfrm>
            <a:prstGeom prst="rect">
              <a:avLst/>
            </a:prstGeom>
          </p:spPr>
          <p:txBody>
            <a:bodyPr lIns="33866" tIns="33866" rIns="33866" bIns="33866" rtlCol="0" anchor="ctr"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23" name="Group 12"/>
          <p:cNvGrpSpPr/>
          <p:nvPr>
            <p:custDataLst>
              <p:tags r:id="rId5"/>
            </p:custDataLst>
          </p:nvPr>
        </p:nvGrpSpPr>
        <p:grpSpPr>
          <a:xfrm rot="5400000">
            <a:off x="1499645" y="2712717"/>
            <a:ext cx="602557" cy="434735"/>
            <a:chOff x="0" y="0"/>
            <a:chExt cx="239489" cy="172787"/>
          </a:xfrm>
        </p:grpSpPr>
        <p:sp>
          <p:nvSpPr>
            <p:cNvPr id="24" name="Freeform 13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239489" cy="172787"/>
            </a:xfrm>
            <a:custGeom>
              <a:avLst/>
              <a:gdLst/>
              <a:ahLst/>
              <a:cxnLst/>
              <a:rect l="l" t="t" r="r" b="b"/>
              <a:pathLst>
                <a:path w="239489" h="172787">
                  <a:moveTo>
                    <a:pt x="0" y="0"/>
                  </a:moveTo>
                  <a:lnTo>
                    <a:pt x="239489" y="0"/>
                  </a:lnTo>
                  <a:lnTo>
                    <a:pt x="239489" y="172787"/>
                  </a:lnTo>
                  <a:lnTo>
                    <a:pt x="0" y="172787"/>
                  </a:lnTo>
                  <a:close/>
                </a:path>
              </a:pathLst>
            </a:custGeom>
            <a:solidFill>
              <a:srgbClr val="224070"/>
            </a:solidFill>
          </p:spPr>
        </p:sp>
        <p:sp>
          <p:nvSpPr>
            <p:cNvPr id="25" name="TextBox 14"/>
            <p:cNvSpPr txBox="1"/>
            <p:nvPr/>
          </p:nvSpPr>
          <p:spPr>
            <a:xfrm>
              <a:off x="0" y="-28575"/>
              <a:ext cx="239489" cy="201362"/>
            </a:xfrm>
            <a:prstGeom prst="rect">
              <a:avLst/>
            </a:prstGeom>
          </p:spPr>
          <p:txBody>
            <a:bodyPr lIns="33866" tIns="33866" rIns="33866" bIns="33866" rtlCol="0" anchor="ctr"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6" name="TextBox 15"/>
          <p:cNvSpPr txBox="1"/>
          <p:nvPr>
            <p:custDataLst>
              <p:tags r:id="rId7"/>
            </p:custDataLst>
          </p:nvPr>
        </p:nvSpPr>
        <p:spPr>
          <a:xfrm>
            <a:off x="1183507" y="3318456"/>
            <a:ext cx="2658963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5040"/>
              </a:lnSpc>
            </a:pPr>
            <a:r>
              <a:rPr lang="zh-CN" altLang="en-US" sz="24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核心目标</a:t>
            </a:r>
            <a:endParaRPr lang="en-US" sz="2400" spc="424">
              <a:solidFill>
                <a:srgbClr val="224070"/>
              </a:solidFill>
              <a:latin typeface="字由点字美玲体" panose="00020600040101000101" charset="-122"/>
              <a:ea typeface="字由点字美玲体" panose="00020600040101000101" charset="-122"/>
              <a:cs typeface="字由点字美玲体" panose="00020600040101000101" charset="-122"/>
              <a:sym typeface="字由点字美玲体" panose="00020600040101000101" charset="-122"/>
            </a:endParaRPr>
          </a:p>
        </p:txBody>
      </p:sp>
      <p:sp>
        <p:nvSpPr>
          <p:cNvPr id="27" name="TextBox 16"/>
          <p:cNvSpPr txBox="1"/>
          <p:nvPr>
            <p:custDataLst>
              <p:tags r:id="rId8"/>
            </p:custDataLst>
          </p:nvPr>
        </p:nvSpPr>
        <p:spPr>
          <a:xfrm>
            <a:off x="774065" y="4189095"/>
            <a:ext cx="2658745" cy="1292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设计并实现一个集成了人脸识别与地理位置验证功能的</a:t>
            </a:r>
            <a:r>
              <a:rPr lang="en-US" altLang="zh-CN" sz="24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Android</a:t>
            </a:r>
            <a:r>
              <a:rPr lang="zh-CN" altLang="en-US" sz="24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端签到系统。</a:t>
            </a:r>
            <a:endParaRPr lang="en-US" sz="2400">
              <a:solidFill>
                <a:srgbClr val="92A4BC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grpSp>
        <p:nvGrpSpPr>
          <p:cNvPr id="28" name="Group 17"/>
          <p:cNvGrpSpPr/>
          <p:nvPr>
            <p:custDataLst>
              <p:tags r:id="rId9"/>
            </p:custDataLst>
          </p:nvPr>
        </p:nvGrpSpPr>
        <p:grpSpPr>
          <a:xfrm rot="5400000">
            <a:off x="5794721" y="2712717"/>
            <a:ext cx="602557" cy="434735"/>
            <a:chOff x="0" y="0"/>
            <a:chExt cx="239489" cy="172787"/>
          </a:xfrm>
        </p:grpSpPr>
        <p:sp>
          <p:nvSpPr>
            <p:cNvPr id="29" name="Freeform 18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239489" cy="172787"/>
            </a:xfrm>
            <a:custGeom>
              <a:avLst/>
              <a:gdLst/>
              <a:ahLst/>
              <a:cxnLst/>
              <a:rect l="l" t="t" r="r" b="b"/>
              <a:pathLst>
                <a:path w="239489" h="172787">
                  <a:moveTo>
                    <a:pt x="0" y="0"/>
                  </a:moveTo>
                  <a:lnTo>
                    <a:pt x="239489" y="0"/>
                  </a:lnTo>
                  <a:lnTo>
                    <a:pt x="239489" y="172787"/>
                  </a:lnTo>
                  <a:lnTo>
                    <a:pt x="0" y="172787"/>
                  </a:lnTo>
                  <a:close/>
                </a:path>
              </a:pathLst>
            </a:custGeom>
            <a:solidFill>
              <a:srgbClr val="224070"/>
            </a:solidFill>
          </p:spPr>
        </p:sp>
        <p:sp>
          <p:nvSpPr>
            <p:cNvPr id="30" name="TextBox 19"/>
            <p:cNvSpPr txBox="1"/>
            <p:nvPr/>
          </p:nvSpPr>
          <p:spPr>
            <a:xfrm>
              <a:off x="0" y="-28575"/>
              <a:ext cx="239489" cy="201362"/>
            </a:xfrm>
            <a:prstGeom prst="rect">
              <a:avLst/>
            </a:prstGeom>
          </p:spPr>
          <p:txBody>
            <a:bodyPr lIns="33866" tIns="33866" rIns="33866" bIns="33866" rtlCol="0" anchor="ctr"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31" name="Group 20"/>
          <p:cNvGrpSpPr/>
          <p:nvPr>
            <p:custDataLst>
              <p:tags r:id="rId11"/>
            </p:custDataLst>
          </p:nvPr>
        </p:nvGrpSpPr>
        <p:grpSpPr>
          <a:xfrm rot="5400000">
            <a:off x="10089797" y="2712717"/>
            <a:ext cx="602557" cy="434735"/>
            <a:chOff x="0" y="0"/>
            <a:chExt cx="239489" cy="172787"/>
          </a:xfrm>
        </p:grpSpPr>
        <p:sp>
          <p:nvSpPr>
            <p:cNvPr id="32" name="Freeform 21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239489" cy="172787"/>
            </a:xfrm>
            <a:custGeom>
              <a:avLst/>
              <a:gdLst/>
              <a:ahLst/>
              <a:cxnLst/>
              <a:rect l="l" t="t" r="r" b="b"/>
              <a:pathLst>
                <a:path w="239489" h="172787">
                  <a:moveTo>
                    <a:pt x="0" y="0"/>
                  </a:moveTo>
                  <a:lnTo>
                    <a:pt x="239489" y="0"/>
                  </a:lnTo>
                  <a:lnTo>
                    <a:pt x="239489" y="172787"/>
                  </a:lnTo>
                  <a:lnTo>
                    <a:pt x="0" y="172787"/>
                  </a:lnTo>
                  <a:close/>
                </a:path>
              </a:pathLst>
            </a:custGeom>
            <a:solidFill>
              <a:srgbClr val="224070"/>
            </a:solidFill>
          </p:spPr>
        </p:sp>
        <p:sp>
          <p:nvSpPr>
            <p:cNvPr id="33" name="TextBox 22"/>
            <p:cNvSpPr txBox="1"/>
            <p:nvPr/>
          </p:nvSpPr>
          <p:spPr>
            <a:xfrm>
              <a:off x="0" y="-28575"/>
              <a:ext cx="239489" cy="201362"/>
            </a:xfrm>
            <a:prstGeom prst="rect">
              <a:avLst/>
            </a:prstGeom>
          </p:spPr>
          <p:txBody>
            <a:bodyPr lIns="33866" tIns="33866" rIns="33866" bIns="33866" rtlCol="0" anchor="ctr"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34" name="TextBox 23"/>
          <p:cNvSpPr txBox="1"/>
          <p:nvPr>
            <p:custDataLst>
              <p:tags r:id="rId13"/>
            </p:custDataLst>
          </p:nvPr>
        </p:nvSpPr>
        <p:spPr>
          <a:xfrm>
            <a:off x="4767154" y="3318456"/>
            <a:ext cx="2658963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5040"/>
              </a:lnSpc>
            </a:pPr>
            <a:r>
              <a:rPr lang="zh-CN" altLang="en-US" sz="24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用户角色</a:t>
            </a:r>
            <a:endParaRPr lang="en-US" sz="2400" spc="424">
              <a:solidFill>
                <a:srgbClr val="224070"/>
              </a:solidFill>
              <a:latin typeface="字由点字美玲体" panose="00020600040101000101" charset="-122"/>
              <a:ea typeface="字由点字美玲体" panose="00020600040101000101" charset="-122"/>
              <a:cs typeface="字由点字美玲体" panose="00020600040101000101" charset="-122"/>
              <a:sym typeface="字由点字美玲体" panose="00020600040101000101" charset="-122"/>
            </a:endParaRPr>
          </a:p>
        </p:txBody>
      </p:sp>
      <p:sp>
        <p:nvSpPr>
          <p:cNvPr id="35" name="TextBox 24"/>
          <p:cNvSpPr txBox="1"/>
          <p:nvPr>
            <p:custDataLst>
              <p:tags r:id="rId14"/>
            </p:custDataLst>
          </p:nvPr>
        </p:nvSpPr>
        <p:spPr>
          <a:xfrm>
            <a:off x="4728210" y="4189095"/>
            <a:ext cx="2820670" cy="1846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1" indent="0" algn="just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学生端</a:t>
            </a:r>
            <a:r>
              <a:rPr lang="zh-CN" altLang="en-US" sz="24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：初始学号密码登录、双重验证签到、记录查询。</a:t>
            </a:r>
            <a:endParaRPr lang="zh-CN" altLang="en-US" sz="2400" b="0" i="0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algn="just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4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教师端：课程管理、发起签到、数据统计。</a:t>
            </a:r>
            <a:endParaRPr lang="en-US" sz="2400">
              <a:solidFill>
                <a:srgbClr val="92A4BC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6" name="TextBox 25"/>
          <p:cNvSpPr txBox="1"/>
          <p:nvPr>
            <p:custDataLst>
              <p:tags r:id="rId15"/>
            </p:custDataLst>
          </p:nvPr>
        </p:nvSpPr>
        <p:spPr>
          <a:xfrm>
            <a:off x="8378106" y="3318456"/>
            <a:ext cx="2658963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r">
              <a:lnSpc>
                <a:spcPts val="5040"/>
              </a:lnSpc>
            </a:pPr>
            <a:r>
              <a:rPr lang="zh-CN" altLang="en-US" sz="24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最终形态</a:t>
            </a:r>
            <a:endParaRPr lang="en-US" sz="2400" spc="424">
              <a:solidFill>
                <a:srgbClr val="224070"/>
              </a:solidFill>
              <a:latin typeface="字由点字美玲体" panose="00020600040101000101" charset="-122"/>
              <a:ea typeface="字由点字美玲体" panose="00020600040101000101" charset="-122"/>
              <a:cs typeface="字由点字美玲体" panose="00020600040101000101" charset="-122"/>
              <a:sym typeface="字由点字美玲体" panose="00020600040101000101" charset="-122"/>
            </a:endParaRPr>
          </a:p>
        </p:txBody>
      </p:sp>
      <p:sp>
        <p:nvSpPr>
          <p:cNvPr id="37" name="TextBox 26"/>
          <p:cNvSpPr txBox="1"/>
          <p:nvPr>
            <p:custDataLst>
              <p:tags r:id="rId16"/>
            </p:custDataLst>
          </p:nvPr>
        </p:nvSpPr>
        <p:spPr>
          <a:xfrm>
            <a:off x="8883015" y="4189095"/>
            <a:ext cx="2658745" cy="1292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一套完整、流畅、自动化的考勤解决方案，服务于高校智慧课堂。</a:t>
            </a:r>
            <a:endParaRPr lang="zh-CN" altLang="en-US" sz="2400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38" name="TextBox 27"/>
          <p:cNvSpPr txBox="1"/>
          <p:nvPr>
            <p:custDataLst>
              <p:tags r:id="rId17"/>
            </p:custDataLst>
          </p:nvPr>
        </p:nvSpPr>
        <p:spPr>
          <a:xfrm>
            <a:off x="1583786" y="2568769"/>
            <a:ext cx="434276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5040"/>
              </a:lnSpc>
            </a:pPr>
            <a:r>
              <a:rPr lang="en-US" sz="2400" spc="424">
                <a:solidFill>
                  <a:srgbClr val="FFFFFF"/>
                </a:solidFill>
                <a:latin typeface="字由点字美玲体" panose="00020600040101000101" charset="-122"/>
                <a:ea typeface="字由点字美玲体" panose="00020600040101000101" charset="-122"/>
                <a:cs typeface="字由点字美玲体" panose="00020600040101000101" charset="-122"/>
                <a:sym typeface="字由点字美玲体" panose="00020600040101000101" charset="-122"/>
              </a:rPr>
              <a:t>1</a:t>
            </a:r>
            <a:endParaRPr lang="en-US" sz="2400" spc="424">
              <a:solidFill>
                <a:srgbClr val="FFFFFF"/>
              </a:solidFill>
              <a:latin typeface="字由点字美玲体" panose="00020600040101000101" charset="-122"/>
              <a:ea typeface="字由点字美玲体" panose="00020600040101000101" charset="-122"/>
              <a:cs typeface="字由点字美玲体" panose="00020600040101000101" charset="-122"/>
              <a:sym typeface="字由点字美玲体" panose="00020600040101000101" charset="-122"/>
            </a:endParaRPr>
          </a:p>
        </p:txBody>
      </p:sp>
      <p:sp>
        <p:nvSpPr>
          <p:cNvPr id="39" name="TextBox 28"/>
          <p:cNvSpPr txBox="1"/>
          <p:nvPr>
            <p:custDataLst>
              <p:tags r:id="rId18"/>
            </p:custDataLst>
          </p:nvPr>
        </p:nvSpPr>
        <p:spPr>
          <a:xfrm>
            <a:off x="5878747" y="2568769"/>
            <a:ext cx="434276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5040"/>
              </a:lnSpc>
            </a:pPr>
            <a:r>
              <a:rPr lang="en-US" sz="2400" spc="424">
                <a:solidFill>
                  <a:srgbClr val="FFFFFF"/>
                </a:solidFill>
                <a:latin typeface="字由点字美玲体" panose="00020600040101000101" charset="-122"/>
                <a:ea typeface="字由点字美玲体" panose="00020600040101000101" charset="-122"/>
                <a:cs typeface="字由点字美玲体" panose="00020600040101000101" charset="-122"/>
                <a:sym typeface="字由点字美玲体" panose="00020600040101000101" charset="-122"/>
              </a:rPr>
              <a:t>2</a:t>
            </a:r>
            <a:endParaRPr lang="en-US" sz="2400" spc="424">
              <a:solidFill>
                <a:srgbClr val="FFFFFF"/>
              </a:solidFill>
              <a:latin typeface="字由点字美玲体" panose="00020600040101000101" charset="-122"/>
              <a:ea typeface="字由点字美玲体" panose="00020600040101000101" charset="-122"/>
              <a:cs typeface="字由点字美玲体" panose="00020600040101000101" charset="-122"/>
              <a:sym typeface="字由点字美玲体" panose="00020600040101000101" charset="-122"/>
            </a:endParaRPr>
          </a:p>
        </p:txBody>
      </p:sp>
      <p:sp>
        <p:nvSpPr>
          <p:cNvPr id="40" name="TextBox 29"/>
          <p:cNvSpPr txBox="1"/>
          <p:nvPr>
            <p:custDataLst>
              <p:tags r:id="rId19"/>
            </p:custDataLst>
          </p:nvPr>
        </p:nvSpPr>
        <p:spPr>
          <a:xfrm>
            <a:off x="10173709" y="2568769"/>
            <a:ext cx="434276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5040"/>
              </a:lnSpc>
            </a:pPr>
            <a:r>
              <a:rPr lang="en-US" sz="2400" spc="424">
                <a:solidFill>
                  <a:srgbClr val="FFFFFF"/>
                </a:solidFill>
                <a:latin typeface="字由点字美玲体" panose="00020600040101000101" charset="-122"/>
                <a:ea typeface="字由点字美玲体" panose="00020600040101000101" charset="-122"/>
                <a:cs typeface="字由点字美玲体" panose="00020600040101000101" charset="-122"/>
                <a:sym typeface="字由点字美玲体" panose="00020600040101000101" charset="-122"/>
              </a:rPr>
              <a:t>3</a:t>
            </a:r>
            <a:endParaRPr lang="en-US" sz="2400" spc="424">
              <a:solidFill>
                <a:srgbClr val="FFFFFF"/>
              </a:solidFill>
              <a:latin typeface="字由点字美玲体" panose="00020600040101000101" charset="-122"/>
              <a:ea typeface="字由点字美玲体" panose="00020600040101000101" charset="-122"/>
              <a:cs typeface="字由点字美玲体" panose="00020600040101000101" charset="-122"/>
              <a:sym typeface="字由点字美玲体" panose="0002060004010100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5-d2tarmdnfo2stf9djk4g.jp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10795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5" name="Image 1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740000">
            <a:off x="10302240" y="553085"/>
            <a:ext cx="805815" cy="8477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" name="C9F754DE-2CAD-44b6-B708-469DEB6407EB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2250" y="1154430"/>
            <a:ext cx="8773160" cy="493458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041900" y="4105275"/>
            <a:ext cx="5748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0000"/>
                </a:solidFill>
                <a:latin typeface="仿宋_GB2312"/>
                <a:ea typeface="仿宋_GB2312"/>
                <a:sym typeface="+mn-ea"/>
              </a:rPr>
              <a:t>存储学生和教师的基本信息</a:t>
            </a:r>
            <a:endParaRPr lang="zh-CN" altLang="en-US" b="1">
              <a:solidFill>
                <a:srgbClr val="000000"/>
              </a:solidFill>
              <a:latin typeface="仿宋_GB2312"/>
              <a:ea typeface="仿宋_GB231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041900" y="4750435"/>
            <a:ext cx="6047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0000"/>
                </a:solidFill>
                <a:latin typeface="仿宋_GB2312"/>
                <a:ea typeface="仿宋_GB2312"/>
                <a:sym typeface="+mn-ea"/>
              </a:rPr>
              <a:t>记录课程的相关信息</a:t>
            </a:r>
            <a:endParaRPr lang="zh-CN" altLang="en-US" b="1">
              <a:solidFill>
                <a:srgbClr val="000000"/>
              </a:solidFill>
              <a:latin typeface="仿宋_GB2312"/>
              <a:ea typeface="仿宋_GB231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041900" y="5313680"/>
            <a:ext cx="5638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0000"/>
                </a:solidFill>
                <a:latin typeface="仿宋_GB2312"/>
                <a:ea typeface="仿宋_GB2312"/>
                <a:sym typeface="+mn-ea"/>
              </a:rPr>
              <a:t>保存学生的签到记录</a:t>
            </a:r>
            <a:endParaRPr lang="zh-CN" altLang="en-US" b="1">
              <a:solidFill>
                <a:srgbClr val="000000"/>
              </a:solidFill>
              <a:latin typeface="仿宋_GB2312"/>
              <a:ea typeface="仿宋_GB2312"/>
            </a:endParaRPr>
          </a:p>
          <a:p>
            <a:endParaRPr lang="zh-CN" altLang="en-US" b="1"/>
          </a:p>
        </p:txBody>
      </p:sp>
      <p:sp>
        <p:nvSpPr>
          <p:cNvPr id="23" name="文本框 22"/>
          <p:cNvSpPr txBox="1"/>
          <p:nvPr/>
        </p:nvSpPr>
        <p:spPr>
          <a:xfrm>
            <a:off x="897255" y="32258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楷体" panose="02010609060101010101" charset="-122"/>
                <a:ea typeface="楷体" panose="02010609060101010101" charset="-122"/>
              </a:rPr>
              <a:t>系统组织模块结构图</a:t>
            </a:r>
            <a:endParaRPr lang="zh-CN" altLang="en-US" sz="32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550910" y="171577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Android——Java/Kotlin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937625" y="474789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MySQL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258810" y="303593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penCV + Spring Boot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框架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291070" y="2680335"/>
            <a:ext cx="26289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OpenCV</a:t>
            </a:r>
            <a:br>
              <a:rPr lang="zh-CN" altLang="en-US"/>
            </a:br>
            <a:br>
              <a:rPr lang="zh-CN" altLang="en-US"/>
            </a:br>
            <a:br>
              <a:rPr lang="zh-CN" altLang="en-US"/>
            </a:br>
            <a:r>
              <a:rPr lang="zh-CN" altLang="en-US"/>
              <a:t>定位</a:t>
            </a:r>
            <a:r>
              <a:rPr lang="en-US" altLang="zh-CN"/>
              <a:t>API+</a:t>
            </a:r>
            <a:r>
              <a:rPr lang="zh-CN" altLang="en-US"/>
              <a:t>地理</a:t>
            </a:r>
            <a:r>
              <a:rPr lang="zh-CN" altLang="en-US"/>
              <a:t>边界技术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13-d2tarodnfo2stf9djkfg.jpg"/>
          <p:cNvPicPr>
            <a:picLocks noChangeAspect="1"/>
          </p:cNvPicPr>
          <p:nvPr/>
        </p:nvPicPr>
        <p:blipFill>
          <a:blip r:embed="rId1">
            <a:alphaModFix amt="60000"/>
          </a:blip>
          <a:srcRect l="371" r="371"/>
          <a:stretch>
            <a:fillRect/>
          </a:stretch>
        </p:blipFill>
        <p:spPr>
          <a:xfrm>
            <a:off x="-240665" y="-157480"/>
            <a:ext cx="12669520" cy="7191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81280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人脸检测与识别算法选型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7:31:00-d2tarl5nfo2stf9djjv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58595" y="1953895"/>
            <a:ext cx="688340" cy="69151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5-17:31:00-d2tarl5nfo2stf9djjv0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58595" y="3961130"/>
            <a:ext cx="688340" cy="691515"/>
          </a:xfrm>
          <a:prstGeom prst="rect">
            <a:avLst/>
          </a:prstGeom>
        </p:spPr>
      </p:pic>
      <p:sp>
        <p:nvSpPr>
          <p:cNvPr id="6" name="Shape 1"/>
          <p:cNvSpPr/>
          <p:nvPr>
            <p:custDataLst>
              <p:tags r:id="rId5"/>
            </p:custDataLst>
          </p:nvPr>
        </p:nvSpPr>
        <p:spPr>
          <a:xfrm>
            <a:off x="1807845" y="2580640"/>
            <a:ext cx="0" cy="147066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</p:sp>
      <p:pic>
        <p:nvPicPr>
          <p:cNvPr id="7" name="Image 3" descr="https://kimi-img.moonshot.cn/pub/slides/slides_tmpl/image/25-09-05-17:31:11-d2tarntnfo2stf9djk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10104120" y="800100"/>
            <a:ext cx="1117600" cy="1017905"/>
          </a:xfrm>
          <a:prstGeom prst="rect">
            <a:avLst/>
          </a:prstGeom>
        </p:spPr>
      </p:pic>
      <p:sp>
        <p:nvSpPr>
          <p:cNvPr id="8" name="Text 2"/>
          <p:cNvSpPr/>
          <p:nvPr>
            <p:custDataLst>
              <p:tags r:id="rId7"/>
            </p:custDataLst>
          </p:nvPr>
        </p:nvSpPr>
        <p:spPr>
          <a:xfrm>
            <a:off x="1463040" y="204406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3"/>
          <p:cNvSpPr/>
          <p:nvPr>
            <p:custDataLst>
              <p:tags r:id="rId8"/>
            </p:custDataLst>
          </p:nvPr>
        </p:nvSpPr>
        <p:spPr>
          <a:xfrm>
            <a:off x="2435225" y="1992948"/>
            <a:ext cx="7732395" cy="5880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人脸检测</a:t>
            </a:r>
            <a:endParaRPr lang="en-US" sz="2800" b="1" dirty="0">
              <a:solidFill>
                <a:srgbClr val="4B62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Text 5"/>
          <p:cNvSpPr/>
          <p:nvPr>
            <p:custDataLst>
              <p:tags r:id="rId9"/>
            </p:custDataLst>
          </p:nvPr>
        </p:nvSpPr>
        <p:spPr>
          <a:xfrm>
            <a:off x="1463040" y="405130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6"/>
          <p:cNvSpPr/>
          <p:nvPr>
            <p:custDataLst>
              <p:tags r:id="rId10"/>
            </p:custDataLst>
          </p:nvPr>
        </p:nvSpPr>
        <p:spPr>
          <a:xfrm>
            <a:off x="2435225" y="4082733"/>
            <a:ext cx="7732395" cy="582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人脸识别</a:t>
            </a:r>
            <a:endParaRPr lang="en-US" sz="2800" b="1" dirty="0">
              <a:solidFill>
                <a:srgbClr val="4B62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07845" y="4996180"/>
            <a:ext cx="855472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文献设计算法：</a:t>
            </a:r>
            <a:b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</a:b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基于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YOLOv8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、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SeeTaFace6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OpenCV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、人脸识别和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PKI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技术</a:t>
            </a:r>
            <a:r>
              <a:rPr 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、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OpenCV</a:t>
            </a:r>
            <a:r>
              <a:rPr 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、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深度学习、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Transformer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的改进遮挡、卷积神经网络特征融合</a:t>
            </a:r>
            <a:r>
              <a:rPr 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、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无线网络定位和人脸识别的考勤签到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203065" y="2025968"/>
            <a:ext cx="52317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OpenCV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自带的</a:t>
            </a:r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Haar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级联分类器</a:t>
            </a:r>
            <a:endParaRPr lang="zh-CN" altLang="en-US" sz="2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266565" y="4113213"/>
            <a:ext cx="66643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OpenCV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</a:t>
            </a:r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LBPH(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局部二值模式直方图</a:t>
            </a:r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)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算法</a:t>
            </a:r>
            <a:endParaRPr lang="zh-CN" altLang="en-US" sz="2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900" y="498475"/>
            <a:ext cx="1064958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定位API与地理围栏实现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8" name="Image 2" descr="https://kimi-img.moonshot.cn/pub/slides/slides_tmpl/image/25-09-05-17:31:08-d2tarn5nfo2stf9djk8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45" y="2031365"/>
            <a:ext cx="1962785" cy="1525270"/>
          </a:xfrm>
          <a:prstGeom prst="rect">
            <a:avLst/>
          </a:prstGeom>
        </p:spPr>
      </p:pic>
      <p:pic>
        <p:nvPicPr>
          <p:cNvPr id="19" name="Image 3" descr="https://kimi-img.moonshot.cn/pub/slides/slides_tmpl/image/25-09-05-17:30:59-d2tarktnfo2stf9djj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45" y="4047490"/>
            <a:ext cx="1859915" cy="17018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711450" y="2422525"/>
            <a:ext cx="7212965" cy="576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定位技术</a:t>
            </a:r>
            <a:endParaRPr lang="en-US" sz="2800" b="1" dirty="0">
              <a:solidFill>
                <a:srgbClr val="4B62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4528820" y="2786380"/>
            <a:ext cx="7212965" cy="11061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Android</a:t>
            </a:r>
            <a:r>
              <a:rPr lang="zh-CN" alt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</a:t>
            </a: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GPS、Wi-Fi与基站</a:t>
            </a:r>
            <a:r>
              <a:rPr lang="zh-CN" alt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定位</a:t>
            </a:r>
            <a:r>
              <a:rPr lang="en-US" altLang="zh-CN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</a:t>
            </a:r>
            <a:r>
              <a:rPr lang="zh-CN" alt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，将其融合调用，</a:t>
            </a: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三重定位，获取精度</a:t>
            </a:r>
            <a:r>
              <a:rPr lang="zh-CN" alt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较优</a:t>
            </a: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的坐标，确保定位的准确性。</a:t>
            </a:r>
            <a:endParaRPr lang="en-US" sz="20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2710815" y="4775835"/>
            <a:ext cx="7213600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地理围栏</a:t>
            </a:r>
            <a:endParaRPr lang="en-US" sz="2800" b="1" dirty="0">
              <a:solidFill>
                <a:srgbClr val="4B62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528820" y="5037455"/>
            <a:ext cx="7212965" cy="11061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考虑</a:t>
            </a: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后端使用Geotools</a:t>
            </a:r>
            <a:r>
              <a:rPr lang="zh-CN" alt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（开源地理信息处理工具）</a:t>
            </a: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计算点到多边形教室区域距离，若小于阈值则判定在场。</a:t>
            </a:r>
            <a:endParaRPr lang="en-US" sz="20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28820" y="2031365"/>
            <a:ext cx="64592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高德地图Android定位SDK或百度地图Android定位SDK</a:t>
            </a:r>
            <a:endParaRPr lang="en-US" sz="20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528820" y="4235450"/>
            <a:ext cx="60617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腾讯位置服务的地理围栏功能，</a:t>
            </a:r>
            <a:r>
              <a:rPr lang="zh-CN" alt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具有</a:t>
            </a: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丰富API接口</a:t>
            </a:r>
            <a:endParaRPr lang="en-US" sz="20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172460" y="2004060"/>
            <a:ext cx="1936750" cy="127254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r>
              <a:rPr lang="zh-CN" altLang="en-US" sz="10000">
                <a:solidFill>
                  <a:srgbClr val="0070C0"/>
                </a:solidFill>
              </a:rPr>
              <a:t>｛</a:t>
            </a:r>
            <a:endParaRPr lang="zh-CN" altLang="en-US" sz="10000">
              <a:solidFill>
                <a:srgbClr val="0070C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72460" y="4248785"/>
            <a:ext cx="1936750" cy="127254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r>
              <a:rPr lang="zh-CN" altLang="en-US" sz="10000">
                <a:solidFill>
                  <a:srgbClr val="0070C0"/>
                </a:solidFill>
              </a:rPr>
              <a:t>｛</a:t>
            </a:r>
            <a:endParaRPr lang="zh-CN" altLang="en-US" sz="100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5-d2tarmdnfo2stf9djk4g.jp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5" name="Image 1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740000">
            <a:off x="10421620" y="473075"/>
            <a:ext cx="805815" cy="8477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" name="文本框 2"/>
          <p:cNvSpPr txBox="1"/>
          <p:nvPr/>
        </p:nvSpPr>
        <p:spPr>
          <a:xfrm>
            <a:off x="735965" y="1290320"/>
            <a:ext cx="10396855" cy="4882515"/>
          </a:xfrm>
          <a:prstGeom prst="rect">
            <a:avLst/>
          </a:prstGeom>
        </p:spPr>
        <p:txBody>
          <a:bodyPr wrap="square">
            <a:spAutoFit/>
          </a:bodyPr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）教师发起：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教师在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App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上选择课程，点击“发起签到”，选择方式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——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人脸识别，系统生成此次签到的唯一标识和有效地理围栏。</a:t>
            </a:r>
            <a:endParaRPr lang="zh-CN" altLang="en-US" sz="2200" b="0" i="0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）学生操作：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学生进入签到界面，点击“签到”按钮。</a:t>
            </a:r>
            <a:endParaRPr lang="zh-CN" altLang="en-US" sz="2200" b="0" i="0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）数据采集：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App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自动调用摄像头进行人脸捕获，并同时从手机获取实时地理位置。</a:t>
            </a:r>
            <a:endParaRPr lang="zh-CN" altLang="en-US" sz="2200" b="0" i="0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）请求发送：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将人脸图片、位置坐标、学生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ID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、课程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ID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打包发送至后端服务器。</a:t>
            </a:r>
            <a:endParaRPr lang="zh-CN" altLang="en-US" sz="2200" b="0" i="0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None/>
            </a:pP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）后端双重验证：</a:t>
            </a:r>
            <a:endParaRPr lang="zh-CN" altLang="en-US" sz="2200" b="0" i="0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步骤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（人脸验证）：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人脸识别服务提取图片特征，与数据库中该学生预存的特征值进行比对，返回相似度分数。</a:t>
            </a:r>
            <a:endParaRPr lang="zh-CN" altLang="en-US" sz="2200" b="0" i="0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步骤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B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（定位验证）：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定位服务校验坐标是否在指定教室的电子围栏内。</a:t>
            </a:r>
            <a:endParaRPr lang="zh-CN" altLang="en-US" sz="2200" b="0" i="0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6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）结果判定与返回：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后端综合两个验证结果（如：人脸相似度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&gt;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阈值 且 位置在范围内），判定签到成功或失败，并将结果返回给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Android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客户端。</a:t>
            </a:r>
            <a:endParaRPr lang="zh-CN" altLang="en-US" sz="2200" b="0" i="0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7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）结果展示与存储：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学生在</a:t>
            </a:r>
            <a:r>
              <a:rPr lang="en-US" altLang="zh-CN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App</a:t>
            </a:r>
            <a:r>
              <a:rPr lang="zh-CN" altLang="en-US" sz="2200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上收到“签到成功”或“失败原因”的提示。同时，此次签到记录被写入数据库。</a:t>
            </a:r>
            <a:endParaRPr lang="zh-CN" altLang="en-US" sz="2200" b="0" i="0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63625" y="461010"/>
            <a:ext cx="59594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暂时构思一次签到操作的流程</a:t>
            </a:r>
            <a:endParaRPr lang="zh-CN" altLang="en-US" sz="3200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40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研究方案及技术路线</a:t>
            </a:r>
            <a:endParaRPr lang="zh-CN" altLang="en-US" sz="40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11-d2tarntnfo2stf9djka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9-05-17:31:05-d2tarmdnfo2stf9djk3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55295" y="3075940"/>
            <a:ext cx="2518410" cy="320992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7-d2tarmtnfo2stf9djk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055" y="1781175"/>
            <a:ext cx="9818370" cy="4775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5295" y="417195"/>
            <a:ext cx="11169650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总体架构与数据流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3370580" y="2171700"/>
            <a:ext cx="3712210" cy="830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8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总体架构</a:t>
            </a:r>
            <a:endParaRPr lang="en-US" sz="2800" dirty="0">
              <a:solidFill>
                <a:srgbClr val="4B62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2981325" y="3059430"/>
            <a:ext cx="3917315" cy="2392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采用“Android客户端+Spring Boot后端+MySQL”三层架构。客户端负责图像采集、人脸检测、定位获取；后端完成身份比对、地理围栏判定、签到记录写入。</a:t>
            </a:r>
            <a:endParaRPr lang="en-US" sz="20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479665" y="2171700"/>
            <a:ext cx="3712210" cy="830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8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数据流</a:t>
            </a:r>
            <a:endParaRPr lang="en-US" sz="2800" dirty="0">
              <a:solidFill>
                <a:srgbClr val="4B62E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7621905" y="3059430"/>
            <a:ext cx="3930015" cy="2251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数据层存储用户、课程、记录三表，接口采用</a:t>
            </a:r>
            <a:r>
              <a:rPr lang="en-US" altLang="zh-CN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RESTful API(</a:t>
            </a:r>
            <a:r>
              <a:rPr lang="zh-CN" alt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衔接客户端、后端</a:t>
            </a:r>
            <a:r>
              <a:rPr lang="en-US" altLang="zh-CN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</a:t>
            </a:r>
            <a:r>
              <a:rPr lang="en-US" sz="20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机制，确保数据的安全传输和存储。</a:t>
            </a:r>
            <a:endParaRPr lang="en-US" sz="20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5-d2tarmdnfo2stf9djk4g.jp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5" name="Image 1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740000">
            <a:off x="10363200" y="876935"/>
            <a:ext cx="805815" cy="8477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" name="文本框 2"/>
          <p:cNvSpPr txBox="1"/>
          <p:nvPr/>
        </p:nvSpPr>
        <p:spPr>
          <a:xfrm>
            <a:off x="8757285" y="3174365"/>
            <a:ext cx="2627630" cy="922655"/>
          </a:xfrm>
          <a:prstGeom prst="rect">
            <a:avLst/>
          </a:prstGeom>
        </p:spPr>
        <p:txBody>
          <a:bodyPr wrap="square">
            <a:noAutofit/>
          </a:bodyPr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400" b="1" i="0">
                <a:solidFill>
                  <a:srgbClr val="0F1115"/>
                </a:solidFill>
                <a:latin typeface="quote-cjk-patch"/>
                <a:ea typeface="quote-cjk-patch"/>
              </a:rPr>
              <a:t>实验研究法</a:t>
            </a:r>
            <a:br>
              <a:rPr lang="zh-CN" altLang="en-US" sz="2400" b="0" i="0">
                <a:solidFill>
                  <a:srgbClr val="0F1115"/>
                </a:solidFill>
                <a:latin typeface="quote-cjk-patch"/>
                <a:ea typeface="quote-cjk-patch"/>
              </a:rPr>
            </a:br>
            <a:br>
              <a:rPr lang="zh-CN" altLang="en-US" sz="2400" b="0" i="0">
                <a:solidFill>
                  <a:srgbClr val="0F1115"/>
                </a:solidFill>
                <a:latin typeface="quote-cjk-patch"/>
                <a:ea typeface="quote-cjk-patch"/>
              </a:rPr>
            </a:br>
            <a:r>
              <a:rPr lang="zh-CN" altLang="en-US" sz="2400" b="0" i="0">
                <a:solidFill>
                  <a:srgbClr val="0F1115"/>
                </a:solidFill>
                <a:latin typeface="quote-cjk-patch"/>
                <a:ea typeface="quote-cjk-patch"/>
              </a:rPr>
              <a:t>开发原型系统，进行测试与优化。</a:t>
            </a:r>
            <a:endParaRPr lang="zh-CN" altLang="en-US" sz="24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082540" y="84963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/>
              <a:t>研究方法</a:t>
            </a:r>
            <a:endParaRPr lang="zh-CN" altLang="en-US" sz="4000" b="1"/>
          </a:p>
        </p:txBody>
      </p:sp>
      <p:sp>
        <p:nvSpPr>
          <p:cNvPr id="40" name="ísľiḋê"/>
          <p:cNvSpPr/>
          <p:nvPr/>
        </p:nvSpPr>
        <p:spPr>
          <a:xfrm rot="16200000">
            <a:off x="5880232" y="-1656751"/>
            <a:ext cx="611659" cy="8044252"/>
          </a:xfrm>
          <a:prstGeom prst="rightBrace">
            <a:avLst>
              <a:gd name="adj1" fmla="val 183831"/>
              <a:gd name="adj2" fmla="val 50000"/>
            </a:avLst>
          </a:prstGeom>
          <a:ln w="1270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324610" y="3174365"/>
            <a:ext cx="27273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altLang="en-US" sz="2400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文献综述法</a:t>
            </a:r>
            <a:br>
              <a:rPr lang="zh-CN" altLang="en-US" sz="24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</a:br>
            <a:br>
              <a:rPr lang="zh-CN" altLang="en-US" sz="24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</a:br>
            <a:r>
              <a:rPr lang="zh-CN" altLang="en-US" sz="24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梳理技术路线，奠定理论基础。</a:t>
            </a:r>
            <a:endParaRPr lang="zh-CN" altLang="en-US" sz="24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endParaRPr lang="zh-CN" altLang="en-US" sz="2400"/>
          </a:p>
        </p:txBody>
      </p:sp>
      <p:sp>
        <p:nvSpPr>
          <p:cNvPr id="20" name="文本框 19"/>
          <p:cNvSpPr txBox="1"/>
          <p:nvPr/>
        </p:nvSpPr>
        <p:spPr>
          <a:xfrm>
            <a:off x="5082540" y="3174365"/>
            <a:ext cx="288988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altLang="en-US" sz="2400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案例分析法</a:t>
            </a:r>
            <a:br>
              <a:rPr lang="zh-CN" altLang="en-US" sz="24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</a:br>
            <a:br>
              <a:rPr lang="zh-CN" altLang="en-US" sz="24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</a:br>
            <a:r>
              <a:rPr lang="zh-CN" altLang="en-US" sz="24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借鉴成熟应用的设计原则。</a:t>
            </a:r>
            <a:endParaRPr lang="zh-CN" altLang="en-US" sz="24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5-d2tarmdnfo2stf9djk4g.jp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11-d2tarntnfo2stf9djk9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00" y="499745"/>
            <a:ext cx="12192000" cy="58610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2155" y="753110"/>
            <a:ext cx="1064958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关键技术</a:t>
            </a:r>
            <a:r>
              <a:rPr lang="zh-CN" alt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</a:t>
            </a:r>
            <a:endParaRPr lang="zh-CN" altLang="en-US" sz="36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Shape 1"/>
          <p:cNvSpPr/>
          <p:nvPr>
            <p:custDataLst>
              <p:tags r:id="rId3"/>
            </p:custDataLst>
          </p:nvPr>
        </p:nvSpPr>
        <p:spPr>
          <a:xfrm>
            <a:off x="4094481" y="2514139"/>
            <a:ext cx="0" cy="257810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</p:sp>
      <p:pic>
        <p:nvPicPr>
          <p:cNvPr id="6" name="Image 2" descr="https://kimi-img.moonshot.cn/pub/slides/slides_tmpl/image/25-09-05-17:31:00-d2tarl5nfo2stf9djjv0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471295" y="1931670"/>
            <a:ext cx="1360805" cy="136525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5-17:31:00-d2tarl5nfo2stf9djjv0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298440" y="1948815"/>
            <a:ext cx="1360805" cy="1365250"/>
          </a:xfrm>
          <a:prstGeom prst="rect">
            <a:avLst/>
          </a:prstGeom>
        </p:spPr>
      </p:pic>
      <p:sp>
        <p:nvSpPr>
          <p:cNvPr id="8" name="Text 2"/>
          <p:cNvSpPr/>
          <p:nvPr>
            <p:custDataLst>
              <p:tags r:id="rId7"/>
            </p:custDataLst>
          </p:nvPr>
        </p:nvSpPr>
        <p:spPr>
          <a:xfrm>
            <a:off x="1626235" y="2110105"/>
            <a:ext cx="1050925" cy="920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3"/>
          <p:cNvSpPr/>
          <p:nvPr>
            <p:custDataLst>
              <p:tags r:id="rId8"/>
            </p:custDataLst>
          </p:nvPr>
        </p:nvSpPr>
        <p:spPr>
          <a:xfrm>
            <a:off x="-347345" y="3678873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人脸识别</a:t>
            </a:r>
            <a:r>
              <a:rPr lang="en-US" sz="2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模块</a:t>
            </a:r>
            <a:endParaRPr lang="en-US" sz="1600" dirty="0"/>
          </a:p>
        </p:txBody>
      </p:sp>
      <p:sp>
        <p:nvSpPr>
          <p:cNvPr id="10" name="Text 4"/>
          <p:cNvSpPr/>
          <p:nvPr>
            <p:custDataLst>
              <p:tags r:id="rId9"/>
            </p:custDataLst>
          </p:nvPr>
        </p:nvSpPr>
        <p:spPr>
          <a:xfrm>
            <a:off x="464185" y="4064635"/>
            <a:ext cx="337566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采用</a:t>
            </a:r>
            <a:r>
              <a:rPr lang="en-US" altLang="zh-CN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OpenCV</a:t>
            </a:r>
            <a:r>
              <a:rPr lang="zh-CN" altLang="en-US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或</a:t>
            </a:r>
            <a:r>
              <a:rPr lang="en-US" altLang="zh-CN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Mobile Vision API</a:t>
            </a:r>
            <a:r>
              <a:rPr lang="zh-CN" altLang="en-US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进行人脸检测；使用</a:t>
            </a:r>
            <a:r>
              <a:rPr lang="en-US" altLang="zh-CN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TensorFlow Lite</a:t>
            </a:r>
            <a:r>
              <a:rPr lang="zh-CN" altLang="en-US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部署轻量化深度学习模型进行特征提取与比对。</a:t>
            </a:r>
            <a:endParaRPr lang="en-US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1" name="Text 5"/>
          <p:cNvSpPr/>
          <p:nvPr>
            <p:custDataLst>
              <p:tags r:id="rId10"/>
            </p:custDataLst>
          </p:nvPr>
        </p:nvSpPr>
        <p:spPr>
          <a:xfrm>
            <a:off x="5453380" y="2127250"/>
            <a:ext cx="1050925" cy="920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6"/>
          <p:cNvSpPr/>
          <p:nvPr>
            <p:custDataLst>
              <p:tags r:id="rId11"/>
            </p:custDataLst>
          </p:nvPr>
        </p:nvSpPr>
        <p:spPr>
          <a:xfrm>
            <a:off x="3479800" y="3678873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定位服务</a:t>
            </a:r>
            <a:r>
              <a:rPr lang="en-US" sz="2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模块</a:t>
            </a:r>
            <a:endParaRPr lang="en-US" sz="1600" dirty="0"/>
          </a:p>
        </p:txBody>
      </p:sp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4522470" y="4064635"/>
            <a:ext cx="3316605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利用</a:t>
            </a:r>
            <a:r>
              <a:rPr lang="en-US" altLang="zh-CN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Android Location API </a:t>
            </a:r>
            <a:r>
              <a:rPr lang="zh-CN" altLang="en-US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和</a:t>
            </a:r>
            <a:r>
              <a:rPr lang="en-US" altLang="zh-CN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 Geofencing API</a:t>
            </a:r>
            <a:r>
              <a:rPr lang="zh-CN" altLang="en-US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实现精准室内外定位与区域判断。</a:t>
            </a:r>
            <a:endParaRPr lang="en-US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795385" y="4239895"/>
            <a:ext cx="2704465" cy="11226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Font typeface="Arial" panose="020B0604020202020204"/>
              <a:buNone/>
            </a:pPr>
            <a:r>
              <a:rPr lang="en-US" altLang="zh-CN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Android</a:t>
            </a:r>
            <a:r>
              <a:rPr lang="zh-CN" altLang="en-US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端与</a:t>
            </a:r>
            <a:r>
              <a:rPr lang="en-US" altLang="zh-CN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Spring Boot</a:t>
            </a:r>
            <a:r>
              <a:rPr lang="zh-CN" altLang="en-US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后端通过</a:t>
            </a:r>
            <a:r>
              <a:rPr lang="en-US" altLang="zh-CN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RESTful API</a:t>
            </a:r>
            <a:r>
              <a:rPr lang="zh-CN" altLang="en-US" b="0" i="0">
                <a:solidFill>
                  <a:srgbClr val="0F111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进行数据交互。</a:t>
            </a:r>
            <a:endParaRPr lang="zh-CN" altLang="en-US" b="0" i="0">
              <a:solidFill>
                <a:srgbClr val="0F1115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5" name="Shape 1"/>
          <p:cNvSpPr/>
          <p:nvPr>
            <p:custDataLst>
              <p:tags r:id="rId13"/>
            </p:custDataLst>
          </p:nvPr>
        </p:nvSpPr>
        <p:spPr>
          <a:xfrm>
            <a:off x="8126096" y="2669079"/>
            <a:ext cx="0" cy="257810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</p:sp>
      <p:pic>
        <p:nvPicPr>
          <p:cNvPr id="16" name="Image 3" descr="https://kimi-img.moonshot.cn/pub/slides/slides_tmpl/image/25-09-05-17:31:00-d2tarl5nfo2stf9djjv0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467215" y="1948815"/>
            <a:ext cx="1360805" cy="1365250"/>
          </a:xfrm>
          <a:prstGeom prst="rect">
            <a:avLst/>
          </a:prstGeom>
        </p:spPr>
      </p:pic>
      <p:sp>
        <p:nvSpPr>
          <p:cNvPr id="17" name="Text 5"/>
          <p:cNvSpPr/>
          <p:nvPr>
            <p:custDataLst>
              <p:tags r:id="rId15"/>
            </p:custDataLst>
          </p:nvPr>
        </p:nvSpPr>
        <p:spPr>
          <a:xfrm>
            <a:off x="9622155" y="2127250"/>
            <a:ext cx="1050925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ctr">
              <a:lnSpc>
                <a:spcPct val="100000"/>
              </a:lnSpc>
              <a:buNone/>
            </a:pPr>
            <a:r>
              <a:rPr lang="en-US" sz="60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6"/>
          <p:cNvSpPr/>
          <p:nvPr>
            <p:custDataLst>
              <p:tags r:id="rId16"/>
            </p:custDataLst>
          </p:nvPr>
        </p:nvSpPr>
        <p:spPr>
          <a:xfrm>
            <a:off x="7648575" y="3678873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系统集成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335915" y="3083560"/>
            <a:ext cx="8227060" cy="7118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预期目标效果，研究重点难点</a:t>
            </a:r>
            <a:r>
              <a:rPr lang="zh-CN" alt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创新点</a:t>
            </a:r>
            <a:endParaRPr lang="zh-CN" altLang="en-US" sz="3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5-d2tarmdnfo2stf9djk4g.jp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5" name="Image 1" descr="https://kimi-img.moonshot.cn/pub/slides/slides_tmpl/image/25-09-05-17:30:59-d2tarktnfo2stf9djjt0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60000"/>
          </a:blip>
          <a:stretch>
            <a:fillRect/>
          </a:stretch>
        </p:blipFill>
        <p:spPr>
          <a:xfrm rot="1740000">
            <a:off x="10648315" y="417830"/>
            <a:ext cx="805815" cy="8477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TextBox 21"/>
          <p:cNvSpPr txBox="1"/>
          <p:nvPr>
            <p:custDataLst>
              <p:tags r:id="rId5"/>
            </p:custDataLst>
          </p:nvPr>
        </p:nvSpPr>
        <p:spPr>
          <a:xfrm>
            <a:off x="7693025" y="2052955"/>
            <a:ext cx="5262880" cy="1246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精度、速度、安全性之间的权衡。</a:t>
            </a:r>
            <a:endParaRPr lang="en-US" altLang="zh-CN" u="none" strike="noStrike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思源黑体 1" panose="020B0500000000000000" charset="-122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应对不同</a:t>
            </a:r>
            <a:r>
              <a:rPr lang="en-US" altLang="zh-CN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Android</a:t>
            </a:r>
            <a:r>
              <a:rPr lang="zh-CN" altLang="en-US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设备性能差异。</a:t>
            </a:r>
            <a:endParaRPr lang="en-US" altLang="zh-CN" u="none" strike="noStrike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思源黑体 1" panose="020B0500000000000000" charset="-122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光照、姿态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复杂场景</a:t>
            </a:r>
            <a:r>
              <a:rPr lang="zh-CN" altLang="en-US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等对识别的影响。</a:t>
            </a:r>
            <a:endParaRPr lang="zh-CN" altLang="en-US" u="none" strike="noStrike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思源黑体 1" panose="020B0500000000000000" charset="-122"/>
            </a:endParaRPr>
          </a:p>
        </p:txBody>
      </p:sp>
      <p:sp>
        <p:nvSpPr>
          <p:cNvPr id="26" name="TextBox 22"/>
          <p:cNvSpPr txBox="1"/>
          <p:nvPr>
            <p:custDataLst>
              <p:tags r:id="rId6"/>
            </p:custDataLst>
          </p:nvPr>
        </p:nvSpPr>
        <p:spPr>
          <a:xfrm>
            <a:off x="506730" y="2108200"/>
            <a:ext cx="3232785" cy="830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一个可运行的</a:t>
            </a:r>
            <a:r>
              <a:rPr lang="en-US" altLang="zh-CN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Android</a:t>
            </a:r>
            <a:r>
              <a:rPr lang="zh-CN" altLang="en-US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应用</a:t>
            </a:r>
            <a:r>
              <a:rPr lang="zh-CN" altLang="en-US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系统。</a:t>
            </a:r>
            <a:endParaRPr lang="en-US" altLang="zh-CN" u="none" strike="noStrike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思源黑体 1" panose="020B0500000000000000" charset="-122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毕业论文一篇。</a:t>
            </a:r>
            <a:endParaRPr lang="zh-CN" altLang="en-US" u="none" strike="noStrike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思源黑体 1" panose="020B0500000000000000" charset="-122"/>
            </a:endParaRPr>
          </a:p>
        </p:txBody>
      </p:sp>
      <p:sp>
        <p:nvSpPr>
          <p:cNvPr id="27" name="TextBox 23"/>
          <p:cNvSpPr txBox="1"/>
          <p:nvPr>
            <p:custDataLst>
              <p:tags r:id="rId7"/>
            </p:custDataLst>
          </p:nvPr>
        </p:nvSpPr>
        <p:spPr>
          <a:xfrm>
            <a:off x="7693025" y="4593590"/>
            <a:ext cx="3232785" cy="1246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将</a:t>
            </a:r>
            <a:r>
              <a:rPr lang="en-US" altLang="zh-CN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“</a:t>
            </a:r>
            <a:r>
              <a:rPr lang="zh-CN" altLang="en-US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人脸识别</a:t>
            </a:r>
            <a:r>
              <a:rPr lang="en-US" altLang="zh-CN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”</a:t>
            </a:r>
            <a:r>
              <a:rPr lang="zh-CN" altLang="en-US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与</a:t>
            </a:r>
            <a:r>
              <a:rPr lang="en-US" altLang="zh-CN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“</a:t>
            </a:r>
            <a:r>
              <a:rPr lang="zh-CN" altLang="en-US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定位签到</a:t>
            </a:r>
            <a:r>
              <a:rPr lang="en-US" altLang="zh-CN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”</a:t>
            </a:r>
            <a:r>
              <a:rPr lang="zh-CN" altLang="en-US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深度结合，构建双重保险机制，有效杜绝代签和远程作弊。</a:t>
            </a:r>
            <a:endParaRPr lang="zh-CN" altLang="en-US" u="none" strike="noStrike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思源黑体 1" panose="020B0500000000000000" charset="-122"/>
            </a:endParaRPr>
          </a:p>
        </p:txBody>
      </p:sp>
      <p:sp>
        <p:nvSpPr>
          <p:cNvPr id="28" name="TextBox 24"/>
          <p:cNvSpPr txBox="1"/>
          <p:nvPr>
            <p:custDataLst>
              <p:tags r:id="rId8"/>
            </p:custDataLst>
          </p:nvPr>
        </p:nvSpPr>
        <p:spPr>
          <a:xfrm>
            <a:off x="506730" y="4593590"/>
            <a:ext cx="3232785" cy="830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人脸识别模块在</a:t>
            </a:r>
            <a:r>
              <a:rPr lang="en-US" altLang="zh-CN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Android</a:t>
            </a:r>
            <a:r>
              <a:rPr lang="zh-CN" altLang="en-US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思源黑体 1" panose="020B0500000000000000" charset="-122"/>
              </a:rPr>
              <a:t>端的集成与优化；双重验证机制的实现。</a:t>
            </a:r>
            <a:endParaRPr lang="zh-CN" altLang="en-US" u="none" strike="noStrike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思源黑体 1" panose="020B0500000000000000" charset="-122"/>
            </a:endParaRPr>
          </a:p>
        </p:txBody>
      </p:sp>
      <p:sp>
        <p:nvSpPr>
          <p:cNvPr id="29" name="TextBox 25"/>
          <p:cNvSpPr txBox="1"/>
          <p:nvPr>
            <p:custDataLst>
              <p:tags r:id="rId9"/>
            </p:custDataLst>
          </p:nvPr>
        </p:nvSpPr>
        <p:spPr>
          <a:xfrm>
            <a:off x="7693025" y="1343750"/>
            <a:ext cx="1730764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zh-CN" altLang="en-US" sz="2400" b="1" spc="279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思源黑体 2 Bold" panose="020B0800000000000000" charset="-122"/>
                <a:sym typeface="思源黑体 2 Bold" panose="020B0800000000000000" charset="-122"/>
              </a:rPr>
              <a:t>难点</a:t>
            </a:r>
            <a:endParaRPr lang="zh-CN" altLang="en-US" sz="2400" b="1" spc="279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30" name="TextBox 26"/>
          <p:cNvSpPr txBox="1"/>
          <p:nvPr>
            <p:custDataLst>
              <p:tags r:id="rId10"/>
            </p:custDataLst>
          </p:nvPr>
        </p:nvSpPr>
        <p:spPr>
          <a:xfrm>
            <a:off x="1932551" y="1343750"/>
            <a:ext cx="1730764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r">
              <a:lnSpc>
                <a:spcPts val="3920"/>
              </a:lnSpc>
              <a:spcBef>
                <a:spcPct val="0"/>
              </a:spcBef>
            </a:pPr>
            <a:r>
              <a:rPr lang="zh-CN" altLang="en-US" sz="2400" b="1" spc="279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思源黑体 2 Bold" panose="020B0800000000000000" charset="-122"/>
                <a:sym typeface="思源黑体 2 Bold" panose="020B0800000000000000" charset="-122"/>
              </a:rPr>
              <a:t>预期效果</a:t>
            </a:r>
            <a:endParaRPr lang="zh-CN" altLang="en-US" sz="2400" b="1" spc="279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31" name="TextBox 27"/>
          <p:cNvSpPr txBox="1"/>
          <p:nvPr>
            <p:custDataLst>
              <p:tags r:id="rId11"/>
            </p:custDataLst>
          </p:nvPr>
        </p:nvSpPr>
        <p:spPr>
          <a:xfrm>
            <a:off x="7693025" y="3809497"/>
            <a:ext cx="1730764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zh-CN" altLang="en-US" sz="2400" b="1" spc="279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思源黑体 2 Bold" panose="020B0800000000000000" charset="-122"/>
                <a:sym typeface="思源黑体 2 Bold" panose="020B0800000000000000" charset="-122"/>
              </a:rPr>
              <a:t>创新点</a:t>
            </a:r>
            <a:endParaRPr lang="zh-CN" altLang="en-US" sz="2400" b="1" spc="279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32" name="TextBox 28"/>
          <p:cNvSpPr txBox="1"/>
          <p:nvPr>
            <p:custDataLst>
              <p:tags r:id="rId12"/>
            </p:custDataLst>
          </p:nvPr>
        </p:nvSpPr>
        <p:spPr>
          <a:xfrm>
            <a:off x="1932551" y="3809497"/>
            <a:ext cx="1730764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r">
              <a:lnSpc>
                <a:spcPts val="3920"/>
              </a:lnSpc>
              <a:spcBef>
                <a:spcPct val="0"/>
              </a:spcBef>
            </a:pPr>
            <a:r>
              <a:rPr lang="zh-CN" altLang="en-US" sz="2400" b="1" spc="279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思源黑体 2 Bold" panose="020B0800000000000000" charset="-122"/>
                <a:sym typeface="思源黑体 2 Bold" panose="020B0800000000000000" charset="-122"/>
              </a:rPr>
              <a:t>重点</a:t>
            </a:r>
            <a:endParaRPr lang="zh-CN" altLang="en-US" sz="2400" b="1" spc="279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grpSp>
        <p:nvGrpSpPr>
          <p:cNvPr id="46" name="Group 46"/>
          <p:cNvGrpSpPr/>
          <p:nvPr/>
        </p:nvGrpSpPr>
        <p:grpSpPr>
          <a:xfrm rot="0">
            <a:off x="3877945" y="1527175"/>
            <a:ext cx="3547745" cy="3383915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A2C2"/>
            </a:solidFill>
            <a:ln cap="sq">
              <a:noFill/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4100289" y="3299242"/>
            <a:ext cx="310369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4370"/>
              </a:lnSpc>
            </a:pPr>
            <a:r>
              <a:rPr lang="en-US" sz="2800" b="1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研究成果</a:t>
            </a:r>
            <a:endParaRPr lang="en-US" sz="2800" b="1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50" name="Freeform 50"/>
          <p:cNvSpPr/>
          <p:nvPr/>
        </p:nvSpPr>
        <p:spPr>
          <a:xfrm>
            <a:off x="5225094" y="2329819"/>
            <a:ext cx="854083" cy="854083"/>
          </a:xfrm>
          <a:custGeom>
            <a:avLst/>
            <a:gdLst/>
            <a:ahLst/>
            <a:cxnLst/>
            <a:rect l="l" t="t" r="r" b="b"/>
            <a:pathLst>
              <a:path w="854083" h="854083">
                <a:moveTo>
                  <a:pt x="0" y="0"/>
                </a:moveTo>
                <a:lnTo>
                  <a:pt x="854082" y="0"/>
                </a:lnTo>
                <a:lnTo>
                  <a:pt x="854082" y="854083"/>
                </a:lnTo>
                <a:lnTo>
                  <a:pt x="0" y="85408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进度安排</a:t>
            </a:r>
            <a:endParaRPr lang="zh-CN" altLang="en-US" sz="3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3" name="Freeform 13"/>
          <p:cNvSpPr/>
          <p:nvPr>
            <p:custDataLst>
              <p:tags r:id="rId3"/>
            </p:custDataLst>
          </p:nvPr>
        </p:nvSpPr>
        <p:spPr>
          <a:xfrm rot="-737664">
            <a:off x="-1316744" y="2960059"/>
            <a:ext cx="15191497" cy="2126809"/>
          </a:xfrm>
          <a:custGeom>
            <a:avLst/>
            <a:gdLst/>
            <a:ahLst/>
            <a:cxnLst/>
            <a:rect l="l" t="t" r="r" b="b"/>
            <a:pathLst>
              <a:path w="22787246" h="3190214">
                <a:moveTo>
                  <a:pt x="0" y="0"/>
                </a:moveTo>
                <a:lnTo>
                  <a:pt x="22787245" y="0"/>
                </a:lnTo>
                <a:lnTo>
                  <a:pt x="22787245" y="3190215"/>
                </a:lnTo>
                <a:lnTo>
                  <a:pt x="0" y="3190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5" name="TextBox 15"/>
          <p:cNvSpPr txBox="1"/>
          <p:nvPr>
            <p:custDataLst>
              <p:tags r:id="rId6"/>
            </p:custDataLst>
          </p:nvPr>
        </p:nvSpPr>
        <p:spPr>
          <a:xfrm>
            <a:off x="1036955" y="2427605"/>
            <a:ext cx="5149850" cy="57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zh-CN" altLang="en-US" sz="2665" b="1">
                <a:solidFill>
                  <a:srgbClr val="3E6669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第一阶段</a:t>
            </a:r>
            <a:r>
              <a:rPr lang="en-US" altLang="zh-CN" sz="2665">
                <a:sym typeface="+mn-ea"/>
              </a:rPr>
              <a:t>2025.10—2025.11</a:t>
            </a:r>
            <a:endParaRPr lang="zh-CN" altLang="en-US" sz="2665" b="1">
              <a:solidFill>
                <a:srgbClr val="3E6669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36" name="AutoShape 16"/>
          <p:cNvSpPr/>
          <p:nvPr>
            <p:custDataLst>
              <p:tags r:id="rId7"/>
            </p:custDataLst>
          </p:nvPr>
        </p:nvSpPr>
        <p:spPr>
          <a:xfrm>
            <a:off x="885404" y="2784537"/>
            <a:ext cx="0" cy="2226897"/>
          </a:xfrm>
          <a:prstGeom prst="line">
            <a:avLst/>
          </a:prstGeom>
          <a:ln w="19050" cap="flat">
            <a:solidFill>
              <a:srgbClr val="3E6669">
                <a:alpha val="32941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TextBox 18"/>
          <p:cNvSpPr txBox="1"/>
          <p:nvPr>
            <p:custDataLst>
              <p:tags r:id="rId8"/>
            </p:custDataLst>
          </p:nvPr>
        </p:nvSpPr>
        <p:spPr>
          <a:xfrm>
            <a:off x="3974465" y="4591685"/>
            <a:ext cx="4920615" cy="57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zh-CN" altLang="en-US" sz="2665" b="1">
                <a:solidFill>
                  <a:srgbClr val="3E6669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第二阶段</a:t>
            </a:r>
            <a:r>
              <a:rPr lang="en-US" altLang="zh-CN" sz="2665">
                <a:sym typeface="+mn-ea"/>
              </a:rPr>
              <a:t>2025.12—2026.01</a:t>
            </a:r>
            <a:endParaRPr lang="zh-CN" altLang="en-US" sz="2665" b="1">
              <a:solidFill>
                <a:srgbClr val="3E6669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39" name="AutoShape 19"/>
          <p:cNvSpPr/>
          <p:nvPr>
            <p:custDataLst>
              <p:tags r:id="rId9"/>
            </p:custDataLst>
          </p:nvPr>
        </p:nvSpPr>
        <p:spPr>
          <a:xfrm>
            <a:off x="3767074" y="4765220"/>
            <a:ext cx="0" cy="958413"/>
          </a:xfrm>
          <a:prstGeom prst="line">
            <a:avLst/>
          </a:prstGeom>
          <a:ln w="19050" cap="flat">
            <a:solidFill>
              <a:srgbClr val="3E6669">
                <a:alpha val="32941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TextBox 21"/>
          <p:cNvSpPr txBox="1"/>
          <p:nvPr>
            <p:custDataLst>
              <p:tags r:id="rId10"/>
            </p:custDataLst>
          </p:nvPr>
        </p:nvSpPr>
        <p:spPr>
          <a:xfrm>
            <a:off x="5863590" y="1074420"/>
            <a:ext cx="4312285" cy="57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zh-CN" altLang="en-US" sz="2665" b="1">
                <a:solidFill>
                  <a:srgbClr val="3E6669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第三阶段</a:t>
            </a:r>
            <a:r>
              <a:rPr lang="en-US" altLang="zh-CN" sz="2665">
                <a:sym typeface="+mn-ea"/>
              </a:rPr>
              <a:t>2026.02—2026.03</a:t>
            </a:r>
            <a:endParaRPr lang="zh-CN" altLang="en-US" sz="2665" b="1">
              <a:solidFill>
                <a:srgbClr val="3E6669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42" name="AutoShape 22"/>
          <p:cNvSpPr/>
          <p:nvPr>
            <p:custDataLst>
              <p:tags r:id="rId11"/>
            </p:custDataLst>
          </p:nvPr>
        </p:nvSpPr>
        <p:spPr>
          <a:xfrm flipH="1">
            <a:off x="5748583" y="1975041"/>
            <a:ext cx="0" cy="1304082"/>
          </a:xfrm>
          <a:prstGeom prst="line">
            <a:avLst/>
          </a:prstGeom>
          <a:ln w="19050" cap="flat">
            <a:solidFill>
              <a:srgbClr val="3E6669">
                <a:alpha val="32941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" name="TextBox 24"/>
          <p:cNvSpPr txBox="1"/>
          <p:nvPr>
            <p:custDataLst>
              <p:tags r:id="rId12"/>
            </p:custDataLst>
          </p:nvPr>
        </p:nvSpPr>
        <p:spPr>
          <a:xfrm>
            <a:off x="8895080" y="3984625"/>
            <a:ext cx="3789045" cy="1148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zh-CN" altLang="en-US" sz="2665" b="1">
                <a:solidFill>
                  <a:srgbClr val="3E6669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第四阶段</a:t>
            </a:r>
            <a:br>
              <a:rPr lang="zh-CN" altLang="en-US" sz="2665" b="1">
                <a:solidFill>
                  <a:srgbClr val="3E6669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</a:br>
            <a:r>
              <a:rPr lang="en-US" altLang="zh-CN" sz="2665">
                <a:sym typeface="+mn-ea"/>
              </a:rPr>
              <a:t>2026.04—2026.05</a:t>
            </a:r>
            <a:endParaRPr lang="zh-CN" altLang="en-US" sz="2665" b="1">
              <a:solidFill>
                <a:srgbClr val="3E6669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45" name="AutoShape 25"/>
          <p:cNvSpPr/>
          <p:nvPr>
            <p:custDataLst>
              <p:tags r:id="rId13"/>
            </p:custDataLst>
          </p:nvPr>
        </p:nvSpPr>
        <p:spPr>
          <a:xfrm>
            <a:off x="8408219" y="4299235"/>
            <a:ext cx="0" cy="1267841"/>
          </a:xfrm>
          <a:prstGeom prst="line">
            <a:avLst/>
          </a:prstGeom>
          <a:ln w="19050" cap="flat">
            <a:solidFill>
              <a:srgbClr val="3E6669">
                <a:alpha val="32941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" name="文本框 45"/>
          <p:cNvSpPr txBox="1"/>
          <p:nvPr>
            <p:custDataLst>
              <p:tags r:id="rId14"/>
            </p:custDataLst>
          </p:nvPr>
        </p:nvSpPr>
        <p:spPr>
          <a:xfrm>
            <a:off x="8530590" y="5165725"/>
            <a:ext cx="34436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进行课堂测试、性能调优、论文撰写与查重，最终提交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最终版本与毕业论文。</a:t>
            </a:r>
            <a:endParaRPr lang="zh-CN" altLang="en-US" sz="2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15"/>
            </p:custDataLst>
          </p:nvPr>
        </p:nvSpPr>
        <p:spPr>
          <a:xfrm>
            <a:off x="1036955" y="3101340"/>
            <a:ext cx="35979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需求调研分析，开发环境搭载，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sym typeface="+mn-ea"/>
              </a:rPr>
              <a:t>为系统开发奠定基础。</a:t>
            </a:r>
            <a:endParaRPr lang="zh-CN" altLang="en-US" sz="2000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16"/>
            </p:custDataLst>
          </p:nvPr>
        </p:nvSpPr>
        <p:spPr>
          <a:xfrm>
            <a:off x="5932805" y="1862455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黑体" panose="02010609060101010101" charset="-122"/>
                <a:ea typeface="黑体" panose="02010609060101010101" charset="-122"/>
              </a:rPr>
              <a:t>完成后端微服务、人脸识别集成、前后端联调，输出可运行原型，验证系统整体性能。</a:t>
            </a:r>
            <a:endParaRPr lang="zh-CN" altLang="en-US" sz="2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17"/>
            </p:custDataLst>
          </p:nvPr>
        </p:nvSpPr>
        <p:spPr>
          <a:xfrm>
            <a:off x="3917950" y="5165725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Android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端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各模块并通过单元测试，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MySQL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数据库，确保前端功能的稳定性和可靠性。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0" name="AutoShape 16"/>
          <p:cNvSpPr/>
          <p:nvPr>
            <p:custDataLst>
              <p:tags r:id="rId18"/>
            </p:custDataLst>
          </p:nvPr>
        </p:nvSpPr>
        <p:spPr>
          <a:xfrm>
            <a:off x="5748869" y="1052257"/>
            <a:ext cx="0" cy="2226897"/>
          </a:xfrm>
          <a:prstGeom prst="line">
            <a:avLst/>
          </a:prstGeom>
          <a:ln w="19050" cap="flat">
            <a:solidFill>
              <a:srgbClr val="3E6669">
                <a:alpha val="32941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参考文献</a:t>
            </a:r>
            <a:endParaRPr lang="zh-CN" altLang="en-US" sz="3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240665" y="1134110"/>
            <a:ext cx="1188910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[1]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王卫民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唐洋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张健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基于卷积神经网络特征融合的人脸识别算法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[J].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计算机与数字工程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,2020,48(01):88-92+105.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[2]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杨雨涵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茅正冲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王艳媛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融合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Transformer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的改进遮挡人脸识别算法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[J].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传感器与微系统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,2025,44(08):154-159.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[3]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张梦榛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基于深度学习的人脸识别技术在智能家居中的应用研究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[J].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信息与电脑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 2025,37(13):5-7.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[4]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刘春晓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张文豪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OpenCV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的人脸识别系统的设计与实现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[J].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现代信息科技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 2024,8(14):20-25.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[5]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江俊丰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周榕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姜家骏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基于人脸识别和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PKI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技术的身份认证系统设计与实现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[J].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电脑知识与技术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,2024,20(36):39-41.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[6]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张亮敬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姚国鹏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吴作洲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基于人脸识别的课堂考勤系统设计与实现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[J].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无线互联科技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,2024,21(22):23-27.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[7]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郭顺超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庞成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韩旭日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基于人脸识别的课堂考勤管理系统设计与实现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[J].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无线互联科技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,2024,21(17):54-57.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[8]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张哲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折波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崔靖茹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基于无线网络定位和人脸识别的考勤签到系统的设计与实现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[J].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现代信息科技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,2025,9(08):126-131.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[9]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曲建龙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基于移动定位的手机考勤管理系统的设计与实现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[D].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西安电子科技大学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 2014.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[10]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戚福豪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孙小舒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陈稳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人脸识别签到手机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APP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设计的研究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[J].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电子元器件与信息技术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,2021,5(05):193-194+196.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[11]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王伟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YOLOv8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改进的人脸识别算法设计与应用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[D].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大连交通大学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,2025.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[12]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刘宏昊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尹四清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SeeTaFace6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的高校多人脸识别智能考勤系统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[J].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信息技术与信息化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,2024,(07):199-202.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[13]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陈光婷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王政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谢丹艳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OpenCV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的人脸识别技术课堂签到系统的设计与实现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[J].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电脑知识与技术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,2022,18(25):41-43+52.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85495" y="309880"/>
            <a:ext cx="5834380" cy="798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>
                <a:latin typeface="楷体" panose="02010609060101010101" charset="-122"/>
                <a:ea typeface="楷体" panose="02010609060101010101" charset="-122"/>
              </a:rPr>
              <a:t>主要参考文献及资料名称</a:t>
            </a:r>
            <a:endParaRPr lang="zh-CN" altLang="en-US" sz="36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23-d2tarqtnfo2stf9djkm0.jpg"/>
          <p:cNvPicPr>
            <a:picLocks noChangeAspect="1"/>
          </p:cNvPicPr>
          <p:nvPr/>
        </p:nvPicPr>
        <p:blipFill>
          <a:blip r:embed="rId1"/>
          <a:srcRect t="104" b="104"/>
          <a:stretch>
            <a:fillRect/>
          </a:stretch>
        </p:blipFill>
        <p:spPr>
          <a:xfrm flipH="1"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7380" y="2440940"/>
            <a:ext cx="752729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627380" y="1709420"/>
            <a:ext cx="7527290" cy="1804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41909" y="845595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1909" y="84559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41909" y="942569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909" y="94256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1909" y="1039543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909" y="1039543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527665" y="365125"/>
            <a:ext cx="262890" cy="11703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15975" y="5309235"/>
            <a:ext cx="363283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5" name="Shape 11"/>
          <p:cNvSpPr/>
          <p:nvPr/>
        </p:nvSpPr>
        <p:spPr>
          <a:xfrm>
            <a:off x="2473247" y="5495001"/>
            <a:ext cx="6486525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2"/>
          <p:cNvSpPr/>
          <p:nvPr/>
        </p:nvSpPr>
        <p:spPr>
          <a:xfrm>
            <a:off x="732155" y="3269615"/>
            <a:ext cx="589280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7" name="Text 13"/>
          <p:cNvSpPr/>
          <p:nvPr/>
        </p:nvSpPr>
        <p:spPr>
          <a:xfrm>
            <a:off x="232410" y="2620645"/>
            <a:ext cx="792226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 algn="ctr">
              <a:lnSpc>
                <a:spcPts val="13070"/>
              </a:lnSpc>
            </a:pPr>
            <a:r>
              <a:rPr lang="en-US" sz="5400" b="1">
                <a:solidFill>
                  <a:srgbClr val="1E1E1E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恳请各位老师批评指正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32155" y="2532380"/>
            <a:ext cx="6677660" cy="70929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Text 15"/>
          <p:cNvSpPr/>
          <p:nvPr/>
        </p:nvSpPr>
        <p:spPr>
          <a:xfrm>
            <a:off x="732155" y="1800860"/>
            <a:ext cx="6677660" cy="70929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2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 YOU</a:t>
            </a:r>
            <a:r>
              <a:rPr lang="en-US" sz="32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32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FOR READING</a:t>
            </a:r>
            <a:r>
              <a:rPr lang="en-US" sz="32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！</a:t>
            </a:r>
            <a:endParaRPr lang="en-US" sz="1600" dirty="0"/>
          </a:p>
        </p:txBody>
      </p:sp>
      <p:pic>
        <p:nvPicPr>
          <p:cNvPr id="20" name="Image 2" descr="https://kimi-img.moonshot.cn/pub/slides/slides_tmpl/image/25-09-05-17:31:23-d2tarqtnfo2stf9djk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325" y="1267460"/>
            <a:ext cx="3823335" cy="422783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801370" y="3977005"/>
            <a:ext cx="6580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汇报人：吴慷浩</a:t>
            </a:r>
            <a:endParaRPr lang="zh-CN" altLang="en-US" sz="280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01370" y="4736465"/>
            <a:ext cx="6580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指导教师：李钢</a:t>
            </a:r>
            <a:endParaRPr lang="zh-CN" altLang="en-US" sz="280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305935" y="4736465"/>
            <a:ext cx="5117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开题时间：</a:t>
            </a:r>
            <a:r>
              <a:rPr lang="en-US" altLang="zh-CN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2025</a:t>
            </a:r>
            <a:r>
              <a:rPr lang="zh-CN" altLang="en-US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</a:t>
            </a:r>
            <a:r>
              <a:rPr lang="en-US" altLang="zh-CN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9</a:t>
            </a:r>
            <a:r>
              <a:rPr lang="zh-CN" altLang="en-US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r>
              <a:rPr lang="en-US" altLang="zh-CN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27</a:t>
            </a:r>
            <a:r>
              <a:rPr lang="zh-CN" altLang="en-US" sz="28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</a:t>
            </a:r>
            <a:endParaRPr lang="zh-CN" altLang="en-US" sz="280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05935" y="402844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班级：22计本一班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efef93d0cd4cb076fa96a651af534cfc89e4892"/>
  <p:tag name="KSO_WM_NEWLAYOUT_ID" val="172"/>
</p:tagLst>
</file>

<file path=ppt/tags/tag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.xml><?xml version="1.0" encoding="utf-8"?>
<p:tagLst xmlns:p="http://schemas.openxmlformats.org/presentationml/2006/main">
  <p:tag name="KSO_WM_BEAUTIFY_FLAG" val="#fgm#"/>
  <p:tag name="KSO_WM_FIGMA_FLAG" val="#fgm#"/>
  <p:tag name="KSO_WM_UNIT_INDEX" val="2"/>
  <p:tag name="KSO_WM_UNIT_TYPE" val="d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3"/>
  <p:tag name="KSO_WM_UNIT_TYPE" val="d"/>
</p:tagLst>
</file>

<file path=ppt/tags/tag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6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7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8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9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10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11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12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13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14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15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16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17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18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19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20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21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22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23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24.xml><?xml version="1.0" encoding="utf-8"?>
<p:tagLst xmlns:p="http://schemas.openxmlformats.org/presentationml/2006/main">
  <p:tag name="KSO_WM_DIAGRAM_VIRTUALLY_FRAME" val="{&quot;height&quot;:311.25,&quot;left&quot;:283.35,&quot;top&quot;:121.2,&quot;width&quot;:583.35}"/>
</p:tagLst>
</file>

<file path=ppt/tags/tag25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26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27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28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29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30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31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32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33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34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35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36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37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38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39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40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41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42.xml><?xml version="1.0" encoding="utf-8"?>
<p:tagLst xmlns:p="http://schemas.openxmlformats.org/presentationml/2006/main">
  <p:tag name="KSO_WM_DIAGRAM_VIRTUALLY_FRAME" val="{&quot;height&quot;:445.54601792809234,&quot;left&quot;:64.65,&quot;top&quot;:94.45398207190763,&quot;width&quot;:834.8016535433071}"/>
</p:tagLst>
</file>

<file path=ppt/tags/tag43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44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45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46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47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48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49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50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51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52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53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54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55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56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57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58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59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60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61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62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63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64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65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66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67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68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69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70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71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72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73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74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75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76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77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78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79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80.xml><?xml version="1.0" encoding="utf-8"?>
<p:tagLst xmlns:p="http://schemas.openxmlformats.org/presentationml/2006/main">
  <p:tag name="KSO_WM_DIAGRAM_VIRTUALLY_FRAME" val="{&quot;height&quot;:455.25,&quot;left&quot;:67.3,&quot;top&quot;:70.8,&quot;width&quot;:846}"/>
</p:tagLst>
</file>

<file path=ppt/tags/tag81.xml><?xml version="1.0" encoding="utf-8"?>
<p:tagLst xmlns:p="http://schemas.openxmlformats.org/presentationml/2006/main">
  <p:tag name="KSO_WM_DIAGRAM_VIRTUALLY_FRAME" val="{&quot;height&quot;:302.0347244094488,&quot;left&quot;:60.939527559055115,&quot;top&quot;:202.2652755905512,&quot;width&quot;:847.8710236220471}"/>
</p:tagLst>
</file>

<file path=ppt/tags/tag82.xml><?xml version="1.0" encoding="utf-8"?>
<p:tagLst xmlns:p="http://schemas.openxmlformats.org/presentationml/2006/main">
  <p:tag name="KSO_WM_DIAGRAM_VIRTUALLY_FRAME" val="{&quot;height&quot;:302.0347244094488,&quot;left&quot;:60.939527559055115,&quot;top&quot;:202.2652755905512,&quot;width&quot;:847.8710236220471}"/>
</p:tagLst>
</file>

<file path=ppt/tags/tag83.xml><?xml version="1.0" encoding="utf-8"?>
<p:tagLst xmlns:p="http://schemas.openxmlformats.org/presentationml/2006/main">
  <p:tag name="KSO_WM_DIAGRAM_VIRTUALLY_FRAME" val="{&quot;height&quot;:302.0347244094488,&quot;left&quot;:60.939527559055115,&quot;top&quot;:202.2652755905512,&quot;width&quot;:847.8710236220471}"/>
</p:tagLst>
</file>

<file path=ppt/tags/tag84.xml><?xml version="1.0" encoding="utf-8"?>
<p:tagLst xmlns:p="http://schemas.openxmlformats.org/presentationml/2006/main">
  <p:tag name="KSO_WM_DIAGRAM_VIRTUALLY_FRAME" val="{&quot;height&quot;:302.0347244094488,&quot;left&quot;:60.939527559055115,&quot;top&quot;:202.2652755905512,&quot;width&quot;:847.8710236220471}"/>
</p:tagLst>
</file>

<file path=ppt/tags/tag85.xml><?xml version="1.0" encoding="utf-8"?>
<p:tagLst xmlns:p="http://schemas.openxmlformats.org/presentationml/2006/main">
  <p:tag name="KSO_WM_DIAGRAM_VIRTUALLY_FRAME" val="{&quot;height&quot;:302.0347244094488,&quot;left&quot;:60.939527559055115,&quot;top&quot;:202.2652755905512,&quot;width&quot;:847.8710236220471}"/>
</p:tagLst>
</file>

<file path=ppt/tags/tag86.xml><?xml version="1.0" encoding="utf-8"?>
<p:tagLst xmlns:p="http://schemas.openxmlformats.org/presentationml/2006/main">
  <p:tag name="KSO_WM_DIAGRAM_VIRTUALLY_FRAME" val="{&quot;height&quot;:302.0347244094488,&quot;left&quot;:60.939527559055115,&quot;top&quot;:202.2652755905512,&quot;width&quot;:847.8710236220471}"/>
</p:tagLst>
</file>

<file path=ppt/tags/tag87.xml><?xml version="1.0" encoding="utf-8"?>
<p:tagLst xmlns:p="http://schemas.openxmlformats.org/presentationml/2006/main">
  <p:tag name="KSO_WM_DIAGRAM_VIRTUALLY_FRAME" val="{&quot;height&quot;:302.0347244094488,&quot;left&quot;:60.939527559055115,&quot;top&quot;:202.2652755905512,&quot;width&quot;:847.8710236220471}"/>
</p:tagLst>
</file>

<file path=ppt/tags/tag88.xml><?xml version="1.0" encoding="utf-8"?>
<p:tagLst xmlns:p="http://schemas.openxmlformats.org/presentationml/2006/main">
  <p:tag name="KSO_WM_DIAGRAM_VIRTUALLY_FRAME" val="{&quot;height&quot;:302.0347244094488,&quot;left&quot;:60.939527559055115,&quot;top&quot;:202.2652755905512,&quot;width&quot;:847.8710236220471}"/>
</p:tagLst>
</file>

<file path=ppt/tags/tag89.xml><?xml version="1.0" encoding="utf-8"?>
<p:tagLst xmlns:p="http://schemas.openxmlformats.org/presentationml/2006/main">
  <p:tag name="KSO_WM_DIAGRAM_VIRTUALLY_FRAME" val="{&quot;height&quot;:302.0347244094488,&quot;left&quot;:60.939527559055115,&quot;top&quot;:202.2652755905512,&quot;width&quot;:847.8710236220471}"/>
</p:tagLst>
</file>

<file path=ppt/tags/tag90.xml><?xml version="1.0" encoding="utf-8"?>
<p:tagLst xmlns:p="http://schemas.openxmlformats.org/presentationml/2006/main">
  <p:tag name="KSO_WM_DIAGRAM_VIRTUALLY_FRAME" val="{&quot;height&quot;:302.0347244094488,&quot;left&quot;:60.939527559055115,&quot;top&quot;:202.2652755905512,&quot;width&quot;:847.8710236220471}"/>
</p:tagLst>
</file>

<file path=ppt/tags/tag91.xml><?xml version="1.0" encoding="utf-8"?>
<p:tagLst xmlns:p="http://schemas.openxmlformats.org/presentationml/2006/main">
  <p:tag name="KSO_WM_DIAGRAM_VIRTUALLY_FRAME" val="{&quot;height&quot;:302.0347244094488,&quot;left&quot;:60.939527559055115,&quot;top&quot;:202.2652755905512,&quot;width&quot;:847.8710236220471}"/>
</p:tagLst>
</file>

<file path=ppt/tags/tag92.xml><?xml version="1.0" encoding="utf-8"?>
<p:tagLst xmlns:p="http://schemas.openxmlformats.org/presentationml/2006/main">
  <p:tag name="KSO_WM_DIAGRAM_VIRTUALLY_FRAME" val="{&quot;height&quot;:302.0347244094488,&quot;left&quot;:60.939527559055115,&quot;top&quot;:202.2652755905512,&quot;width&quot;:847.8710236220471}"/>
</p:tagLst>
</file>

<file path=ppt/tags/tag93.xml><?xml version="1.0" encoding="utf-8"?>
<p:tagLst xmlns:p="http://schemas.openxmlformats.org/presentationml/2006/main">
  <p:tag name="KSO_WM_DIAGRAM_VIRTUALLY_FRAME" val="{&quot;height&quot;:302.0347244094488,&quot;left&quot;:60.939527559055115,&quot;top&quot;:202.2652755905512,&quot;width&quot;:847.8710236220471}"/>
</p:tagLst>
</file>

<file path=ppt/tags/tag94.xml><?xml version="1.0" encoding="utf-8"?>
<p:tagLst xmlns:p="http://schemas.openxmlformats.org/presentationml/2006/main">
  <p:tag name="KSO_WM_DIAGRAM_VIRTUALLY_FRAME" val="{&quot;height&quot;:302.0347244094488,&quot;left&quot;:60.939527559055115,&quot;top&quot;:202.2652755905512,&quot;width&quot;:847.8710236220471}"/>
</p:tagLst>
</file>

<file path=ppt/tags/tag95.xml><?xml version="1.0" encoding="utf-8"?>
<p:tagLst xmlns:p="http://schemas.openxmlformats.org/presentationml/2006/main">
  <p:tag name="KSO_WM_DIAGRAM_VIRTUALLY_FRAME" val="{&quot;height&quot;:302.0347244094488,&quot;left&quot;:60.939527559055115,&quot;top&quot;:202.2652755905512,&quot;width&quot;:847.8710236220471}"/>
</p:tagLst>
</file>

<file path=ppt/tags/tag96.xml><?xml version="1.0" encoding="utf-8"?>
<p:tagLst xmlns:p="http://schemas.openxmlformats.org/presentationml/2006/main">
  <p:tag name="KSO_WM_DIAGRAM_VIRTUALLY_FRAME" val="{&quot;height&quot;:302.0347244094488,&quot;left&quot;:60.939527559055115,&quot;top&quot;:202.2652755905512,&quot;width&quot;:847.8710236220471}"/>
</p:tagLst>
</file>

<file path=ppt/tags/tag97.xml><?xml version="1.0" encoding="utf-8"?>
<p:tagLst xmlns:p="http://schemas.openxmlformats.org/presentationml/2006/main">
  <p:tag name="KSO_WM_DIAGRAM_VIRTUALLY_FRAME" val="{&quot;height&quot;:302.0347244094488,&quot;left&quot;:60.939527559055115,&quot;top&quot;:202.2652755905512,&quot;width&quot;:847.8710236220471}"/>
</p:tagLst>
</file>

<file path=ppt/tags/tag98.xml><?xml version="1.0" encoding="utf-8"?>
<p:tagLst xmlns:p="http://schemas.openxmlformats.org/presentationml/2006/main">
  <p:tag name="KSO_WM_DIAGRAM_VIRTUALLY_FRAME" val="{&quot;height&quot;:213.525,&quot;left&quot;:114.85,&quot;top&quot;:153.85,&quot;width&quot;:712.15}"/>
</p:tagLst>
</file>

<file path=ppt/tags/tag99.xml><?xml version="1.0" encoding="utf-8"?>
<p:tagLst xmlns:p="http://schemas.openxmlformats.org/presentationml/2006/main">
  <p:tag name="KSO_WM_DIAGRAM_VIRTUALLY_FRAME" val="{&quot;height&quot;:213.525,&quot;left&quot;:114.85,&quot;top&quot;:153.85,&quot;width&quot;:712.15}"/>
</p:tagLst>
</file>

<file path=ppt/tags/tag100.xml><?xml version="1.0" encoding="utf-8"?>
<p:tagLst xmlns:p="http://schemas.openxmlformats.org/presentationml/2006/main">
  <p:tag name="KSO_WM_DIAGRAM_VIRTUALLY_FRAME" val="{&quot;height&quot;:213.525,&quot;left&quot;:114.85,&quot;top&quot;:153.85,&quot;width&quot;:712.15}"/>
</p:tagLst>
</file>

<file path=ppt/tags/tag101.xml><?xml version="1.0" encoding="utf-8"?>
<p:tagLst xmlns:p="http://schemas.openxmlformats.org/presentationml/2006/main">
  <p:tag name="KSO_WM_DIAGRAM_VIRTUALLY_FRAME" val="{&quot;height&quot;:213.525,&quot;left&quot;:114.85,&quot;top&quot;:153.85,&quot;width&quot;:712.15}"/>
</p:tagLst>
</file>

<file path=ppt/tags/tag102.xml><?xml version="1.0" encoding="utf-8"?>
<p:tagLst xmlns:p="http://schemas.openxmlformats.org/presentationml/2006/main">
  <p:tag name="KSO_WM_DIAGRAM_VIRTUALLY_FRAME" val="{&quot;height&quot;:213.525,&quot;left&quot;:114.85,&quot;top&quot;:153.85,&quot;width&quot;:712.15}"/>
</p:tagLst>
</file>

<file path=ppt/tags/tag103.xml><?xml version="1.0" encoding="utf-8"?>
<p:tagLst xmlns:p="http://schemas.openxmlformats.org/presentationml/2006/main">
  <p:tag name="KSO_WM_DIAGRAM_VIRTUALLY_FRAME" val="{&quot;height&quot;:213.525,&quot;left&quot;:114.85,&quot;top&quot;:153.85,&quot;width&quot;:712.15}"/>
</p:tagLst>
</file>

<file path=ppt/tags/tag104.xml><?xml version="1.0" encoding="utf-8"?>
<p:tagLst xmlns:p="http://schemas.openxmlformats.org/presentationml/2006/main">
  <p:tag name="KSO_WM_DIAGRAM_VIRTUALLY_FRAME" val="{&quot;height&quot;:213.525,&quot;left&quot;:114.85,&quot;top&quot;:153.85,&quot;width&quot;:712.15}"/>
</p:tagLst>
</file>

<file path=ppt/tags/tag105.xml><?xml version="1.0" encoding="utf-8"?>
<p:tagLst xmlns:p="http://schemas.openxmlformats.org/presentationml/2006/main">
  <p:tag name="KSO_WM_DIAGRAM_VIRTUALLY_FRAME" val="{&quot;height&quot;:337.8,&quot;left&quot;:52.9,&quot;top&quot;:152.1,&quot;width&quot;:855.6}"/>
</p:tagLst>
</file>

<file path=ppt/tags/tag106.xml><?xml version="1.0" encoding="utf-8"?>
<p:tagLst xmlns:p="http://schemas.openxmlformats.org/presentationml/2006/main">
  <p:tag name="KSO_WM_DIAGRAM_VIRTUALLY_FRAME" val="{&quot;height&quot;:337.8,&quot;left&quot;:52.9,&quot;top&quot;:152.1,&quot;width&quot;:855.6}"/>
</p:tagLst>
</file>

<file path=ppt/tags/tag107.xml><?xml version="1.0" encoding="utf-8"?>
<p:tagLst xmlns:p="http://schemas.openxmlformats.org/presentationml/2006/main">
  <p:tag name="KSO_WM_DIAGRAM_VIRTUALLY_FRAME" val="{&quot;height&quot;:337.8,&quot;left&quot;:52.9,&quot;top&quot;:152.1,&quot;width&quot;:855.6}"/>
</p:tagLst>
</file>

<file path=ppt/tags/tag108.xml><?xml version="1.0" encoding="utf-8"?>
<p:tagLst xmlns:p="http://schemas.openxmlformats.org/presentationml/2006/main">
  <p:tag name="KSO_WM_DIAGRAM_VIRTUALLY_FRAME" val="{&quot;height&quot;:337.8,&quot;left&quot;:52.9,&quot;top&quot;:152.1,&quot;width&quot;:855.6}"/>
</p:tagLst>
</file>

<file path=ppt/tags/tag109.xml><?xml version="1.0" encoding="utf-8"?>
<p:tagLst xmlns:p="http://schemas.openxmlformats.org/presentationml/2006/main">
  <p:tag name="KSO_WM_DIAGRAM_VIRTUALLY_FRAME" val="{&quot;height&quot;:337.8,&quot;left&quot;:52.9,&quot;top&quot;:152.1,&quot;width&quot;:855.6}"/>
</p:tagLst>
</file>

<file path=ppt/tags/tag110.xml><?xml version="1.0" encoding="utf-8"?>
<p:tagLst xmlns:p="http://schemas.openxmlformats.org/presentationml/2006/main">
  <p:tag name="KSO_WM_DIAGRAM_VIRTUALLY_FRAME" val="{&quot;height&quot;:337.8,&quot;left&quot;:52.9,&quot;top&quot;:152.1,&quot;width&quot;:855.6}"/>
</p:tagLst>
</file>

<file path=ppt/tags/tag111.xml><?xml version="1.0" encoding="utf-8"?>
<p:tagLst xmlns:p="http://schemas.openxmlformats.org/presentationml/2006/main">
  <p:tag name="KSO_WM_DIAGRAM_VIRTUALLY_FRAME" val="{&quot;height&quot;:337.8,&quot;left&quot;:52.9,&quot;top&quot;:152.1,&quot;width&quot;:855.6}"/>
</p:tagLst>
</file>

<file path=ppt/tags/tag112.xml><?xml version="1.0" encoding="utf-8"?>
<p:tagLst xmlns:p="http://schemas.openxmlformats.org/presentationml/2006/main">
  <p:tag name="KSO_WM_DIAGRAM_VIRTUALLY_FRAME" val="{&quot;height&quot;:337.8,&quot;left&quot;:52.9,&quot;top&quot;:152.1,&quot;width&quot;:855.6}"/>
</p:tagLst>
</file>

<file path=ppt/tags/tag113.xml><?xml version="1.0" encoding="utf-8"?>
<p:tagLst xmlns:p="http://schemas.openxmlformats.org/presentationml/2006/main">
  <p:tag name="KSO_WM_DIAGRAM_VIRTUALLY_FRAME" val="{&quot;height&quot;:337.8,&quot;left&quot;:52.9,&quot;top&quot;:152.1,&quot;width&quot;:855.6}"/>
</p:tagLst>
</file>

<file path=ppt/tags/tag114.xml><?xml version="1.0" encoding="utf-8"?>
<p:tagLst xmlns:p="http://schemas.openxmlformats.org/presentationml/2006/main">
  <p:tag name="KSO_WM_DIAGRAM_VIRTUALLY_FRAME" val="{&quot;height&quot;:337.8,&quot;left&quot;:52.9,&quot;top&quot;:152.1,&quot;width&quot;:855.6}"/>
</p:tagLst>
</file>

<file path=ppt/tags/tag115.xml><?xml version="1.0" encoding="utf-8"?>
<p:tagLst xmlns:p="http://schemas.openxmlformats.org/presentationml/2006/main">
  <p:tag name="KSO_WM_DIAGRAM_VIRTUALLY_FRAME" val="{&quot;height&quot;:337.8,&quot;left&quot;:52.9,&quot;top&quot;:152.1,&quot;width&quot;:855.6}"/>
</p:tagLst>
</file>

<file path=ppt/tags/tag116.xml><?xml version="1.0" encoding="utf-8"?>
<p:tagLst xmlns:p="http://schemas.openxmlformats.org/presentationml/2006/main">
  <p:tag name="KSO_WM_DIAGRAM_VIRTUALLY_FRAME" val="{&quot;height&quot;:337.8,&quot;left&quot;:52.9,&quot;top&quot;:152.1,&quot;width&quot;:855.6}"/>
</p:tagLst>
</file>

<file path=ppt/tags/tag117.xml><?xml version="1.0" encoding="utf-8"?>
<p:tagLst xmlns:p="http://schemas.openxmlformats.org/presentationml/2006/main">
  <p:tag name="KSO_WM_DIAGRAM_VIRTUALLY_FRAME" val="{&quot;height&quot;:337.8,&quot;left&quot;:52.9,&quot;top&quot;:152.1,&quot;width&quot;:855.6}"/>
</p:tagLst>
</file>

<file path=ppt/tags/tag118.xml><?xml version="1.0" encoding="utf-8"?>
<p:tagLst xmlns:p="http://schemas.openxmlformats.org/presentationml/2006/main">
  <p:tag name="KSO_WM_DIAGRAM_VIRTUALLY_FRAME" val="{&quot;height&quot;:407.9199549359663,&quot;left&quot;:68.62052493438318,&quot;top&quot;:94.45398207190763,&quot;width&quot;:891.3838057742781}"/>
</p:tagLst>
</file>

<file path=ppt/tags/tag119.xml><?xml version="1.0" encoding="utf-8"?>
<p:tagLst xmlns:p="http://schemas.openxmlformats.org/presentationml/2006/main">
  <p:tag name="KSO_WM_DIAGRAM_VIRTUALLY_FRAME" val="{&quot;height&quot;:407.9199549359663,&quot;left&quot;:68.62052493438318,&quot;top&quot;:94.45398207190763,&quot;width&quot;:891.3838057742781}"/>
</p:tagLst>
</file>

<file path=ppt/tags/tag120.xml><?xml version="1.0" encoding="utf-8"?>
<p:tagLst xmlns:p="http://schemas.openxmlformats.org/presentationml/2006/main">
  <p:tag name="KSO_WM_DIAGRAM_VIRTUALLY_FRAME" val="{&quot;height&quot;:407.9199549359663,&quot;left&quot;:68.62052493438318,&quot;top&quot;:94.45398207190763,&quot;width&quot;:891.3838057742781}"/>
</p:tagLst>
</file>

<file path=ppt/tags/tag121.xml><?xml version="1.0" encoding="utf-8"?>
<p:tagLst xmlns:p="http://schemas.openxmlformats.org/presentationml/2006/main">
  <p:tag name="KSO_WM_DIAGRAM_VIRTUALLY_FRAME" val="{&quot;height&quot;:407.9199549359663,&quot;left&quot;:68.62052493438318,&quot;top&quot;:94.45398207190763,&quot;width&quot;:891.3838057742781}"/>
</p:tagLst>
</file>

<file path=ppt/tags/tag122.xml><?xml version="1.0" encoding="utf-8"?>
<p:tagLst xmlns:p="http://schemas.openxmlformats.org/presentationml/2006/main">
  <p:tag name="KSO_WM_DIAGRAM_VIRTUALLY_FRAME" val="{&quot;height&quot;:407.9199549359663,&quot;left&quot;:68.62052493438318,&quot;top&quot;:94.45398207190763,&quot;width&quot;:891.3838057742781}"/>
</p:tagLst>
</file>

<file path=ppt/tags/tag123.xml><?xml version="1.0" encoding="utf-8"?>
<p:tagLst xmlns:p="http://schemas.openxmlformats.org/presentationml/2006/main">
  <p:tag name="KSO_WM_DIAGRAM_VIRTUALLY_FRAME" val="{&quot;height&quot;:407.9199549359663,&quot;left&quot;:68.62052493438318,&quot;top&quot;:94.45398207190763,&quot;width&quot;:891.3838057742781}"/>
</p:tagLst>
</file>

<file path=ppt/tags/tag124.xml><?xml version="1.0" encoding="utf-8"?>
<p:tagLst xmlns:p="http://schemas.openxmlformats.org/presentationml/2006/main">
  <p:tag name="KSO_WM_DIAGRAM_VIRTUALLY_FRAME" val="{&quot;height&quot;:407.9199549359663,&quot;left&quot;:68.62052493438318,&quot;top&quot;:94.45398207190763,&quot;width&quot;:891.3838057742781}"/>
</p:tagLst>
</file>

<file path=ppt/tags/tag125.xml><?xml version="1.0" encoding="utf-8"?>
<p:tagLst xmlns:p="http://schemas.openxmlformats.org/presentationml/2006/main">
  <p:tag name="KSO_WM_DIAGRAM_VIRTUALLY_FRAME" val="{&quot;height&quot;:407.9199549359663,&quot;left&quot;:68.62052493438318,&quot;top&quot;:94.45398207190763,&quot;width&quot;:891.3838057742781}"/>
</p:tagLst>
</file>

<file path=ppt/tags/tag126.xml><?xml version="1.0" encoding="utf-8"?>
<p:tagLst xmlns:p="http://schemas.openxmlformats.org/presentationml/2006/main">
  <p:tag name="KSO_WM_DIAGRAM_VIRTUALLY_FRAME" val="{&quot;height&quot;:407.9199549359663,&quot;left&quot;:68.62052493438318,&quot;top&quot;:94.45398207190763,&quot;width&quot;:891.3838057742781}"/>
</p:tagLst>
</file>

<file path=ppt/tags/tag127.xml><?xml version="1.0" encoding="utf-8"?>
<p:tagLst xmlns:p="http://schemas.openxmlformats.org/presentationml/2006/main">
  <p:tag name="KSO_WM_DIAGRAM_VIRTUALLY_FRAME" val="{&quot;height&quot;:407.9199549359663,&quot;left&quot;:68.62052493438318,&quot;top&quot;:94.45398207190763,&quot;width&quot;:891.3838057742781}"/>
</p:tagLst>
</file>

<file path=ppt/tags/tag128.xml><?xml version="1.0" encoding="utf-8"?>
<p:tagLst xmlns:p="http://schemas.openxmlformats.org/presentationml/2006/main">
  <p:tag name="KSO_WM_DIAGRAM_VIRTUALLY_FRAME" val="{&quot;height&quot;:443.1199372165329,&quot;left&quot;:-107.79386033898045,&quot;top&quot;:82.85488188976379,&quot;width&quot;:1204.4073532238926}"/>
</p:tagLst>
</file>

<file path=ppt/tags/tag129.xml><?xml version="1.0" encoding="utf-8"?>
<p:tagLst xmlns:p="http://schemas.openxmlformats.org/presentationml/2006/main">
  <p:tag name="KSO_WM_DIAGRAM_VIRTUALLY_FRAME" val="{&quot;height&quot;:443.1199372165329,&quot;left&quot;:-107.79386033898045,&quot;top&quot;:82.85488188976379,&quot;width&quot;:1204.4073532238926}"/>
</p:tagLst>
</file>

<file path=ppt/tags/tag130.xml><?xml version="1.0" encoding="utf-8"?>
<p:tagLst xmlns:p="http://schemas.openxmlformats.org/presentationml/2006/main">
  <p:tag name="KSO_WM_DIAGRAM_VIRTUALLY_FRAME" val="{&quot;height&quot;:443.1199372165329,&quot;left&quot;:-107.79386033898045,&quot;top&quot;:82.85488188976379,&quot;width&quot;:1204.4073532238926}"/>
</p:tagLst>
</file>

<file path=ppt/tags/tag131.xml><?xml version="1.0" encoding="utf-8"?>
<p:tagLst xmlns:p="http://schemas.openxmlformats.org/presentationml/2006/main">
  <p:tag name="KSO_WM_DIAGRAM_VIRTUALLY_FRAME" val="{&quot;height&quot;:443.1199372165329,&quot;left&quot;:-107.79386033898045,&quot;top&quot;:82.85488188976379,&quot;width&quot;:1204.4073532238926}"/>
</p:tagLst>
</file>

<file path=ppt/tags/tag132.xml><?xml version="1.0" encoding="utf-8"?>
<p:tagLst xmlns:p="http://schemas.openxmlformats.org/presentationml/2006/main">
  <p:tag name="KSO_WM_DIAGRAM_VIRTUALLY_FRAME" val="{&quot;height&quot;:443.1199372165329,&quot;left&quot;:-107.79386033898045,&quot;top&quot;:82.85488188976379,&quot;width&quot;:1204.4073532238926}"/>
</p:tagLst>
</file>

<file path=ppt/tags/tag133.xml><?xml version="1.0" encoding="utf-8"?>
<p:tagLst xmlns:p="http://schemas.openxmlformats.org/presentationml/2006/main">
  <p:tag name="KSO_WM_DIAGRAM_VIRTUALLY_FRAME" val="{&quot;height&quot;:443.1199372165329,&quot;left&quot;:-107.79386033898045,&quot;top&quot;:82.85488188976379,&quot;width&quot;:1204.4073532238926}"/>
</p:tagLst>
</file>

<file path=ppt/tags/tag134.xml><?xml version="1.0" encoding="utf-8"?>
<p:tagLst xmlns:p="http://schemas.openxmlformats.org/presentationml/2006/main">
  <p:tag name="KSO_WM_DIAGRAM_VIRTUALLY_FRAME" val="{&quot;height&quot;:443.1199372165329,&quot;left&quot;:-107.79386033898045,&quot;top&quot;:82.85488188976379,&quot;width&quot;:1204.4073532238926}"/>
</p:tagLst>
</file>

<file path=ppt/tags/tag135.xml><?xml version="1.0" encoding="utf-8"?>
<p:tagLst xmlns:p="http://schemas.openxmlformats.org/presentationml/2006/main">
  <p:tag name="KSO_WM_DIAGRAM_VIRTUALLY_FRAME" val="{&quot;height&quot;:443.1199372165329,&quot;left&quot;:-107.79386033898045,&quot;top&quot;:82.85488188976379,&quot;width&quot;:1204.4073532238926}"/>
</p:tagLst>
</file>

<file path=ppt/tags/tag136.xml><?xml version="1.0" encoding="utf-8"?>
<p:tagLst xmlns:p="http://schemas.openxmlformats.org/presentationml/2006/main">
  <p:tag name="KSO_WM_DIAGRAM_VIRTUALLY_FRAME" val="{&quot;height&quot;:443.1199372165329,&quot;left&quot;:-107.79386033898045,&quot;top&quot;:82.85488188976379,&quot;width&quot;:1204.4073532238926}"/>
</p:tagLst>
</file>

<file path=ppt/tags/tag137.xml><?xml version="1.0" encoding="utf-8"?>
<p:tagLst xmlns:p="http://schemas.openxmlformats.org/presentationml/2006/main">
  <p:tag name="KSO_WM_DIAGRAM_VIRTUALLY_FRAME" val="{&quot;height&quot;:443.1199372165329,&quot;left&quot;:-107.79386033898045,&quot;top&quot;:82.85488188976379,&quot;width&quot;:1204.4073532238926}"/>
</p:tagLst>
</file>

<file path=ppt/tags/tag138.xml><?xml version="1.0" encoding="utf-8"?>
<p:tagLst xmlns:p="http://schemas.openxmlformats.org/presentationml/2006/main">
  <p:tag name="KSO_WM_DIAGRAM_VIRTUALLY_FRAME" val="{&quot;height&quot;:443.1199372165329,&quot;left&quot;:-107.79386033898045,&quot;top&quot;:82.85488188976379,&quot;width&quot;:1204.4073532238926}"/>
</p:tagLst>
</file>

<file path=ppt/tags/tag139.xml><?xml version="1.0" encoding="utf-8"?>
<p:tagLst xmlns:p="http://schemas.openxmlformats.org/presentationml/2006/main">
  <p:tag name="KSO_WM_DIAGRAM_VIRTUALLY_FRAME" val="{&quot;height&quot;:443.1199372165329,&quot;left&quot;:-107.79386033898045,&quot;top&quot;:82.85488188976379,&quot;width&quot;:1204.4073532238926}"/>
</p:tagLst>
</file>

<file path=ppt/tags/tag140.xml><?xml version="1.0" encoding="utf-8"?>
<p:tagLst xmlns:p="http://schemas.openxmlformats.org/presentationml/2006/main">
  <p:tag name="KSO_WM_DIAGRAM_VIRTUALLY_FRAME" val="{&quot;height&quot;:443.1199372165329,&quot;left&quot;:-107.79386033898045,&quot;top&quot;:82.85488188976379,&quot;width&quot;:1204.4073532238926}"/>
</p:tagLst>
</file>

<file path=ppt/tags/tag141.xml><?xml version="1.0" encoding="utf-8"?>
<p:tagLst xmlns:p="http://schemas.openxmlformats.org/presentationml/2006/main">
  <p:tag name="KSO_WM_DIAGRAM_VIRTUALLY_FRAME" val="{&quot;height&quot;:443.1199372165329,&quot;left&quot;:-107.79386033898045,&quot;top&quot;:82.85488188976379,&quot;width&quot;:1204.4073532238926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3752</Words>
  <Application>WPS 演示</Application>
  <PresentationFormat>On-screen Show (16:9)</PresentationFormat>
  <Paragraphs>353</Paragraphs>
  <Slides>25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58" baseType="lpstr">
      <vt:lpstr>Arial</vt:lpstr>
      <vt:lpstr>宋体</vt:lpstr>
      <vt:lpstr>Wingdings</vt:lpstr>
      <vt:lpstr>楷体</vt:lpstr>
      <vt:lpstr>MiSans</vt:lpstr>
      <vt:lpstr>MiSans</vt:lpstr>
      <vt:lpstr>思源黑体 1 Bold</vt:lpstr>
      <vt:lpstr>黑体</vt:lpstr>
      <vt:lpstr>Arial</vt:lpstr>
      <vt:lpstr>思源黑体 2</vt:lpstr>
      <vt:lpstr>Akzidenz-Grotesk Bold</vt:lpstr>
      <vt:lpstr>微软雅黑</vt:lpstr>
      <vt:lpstr>字由点字美玲体</vt:lpstr>
      <vt:lpstr>思源宋体</vt:lpstr>
      <vt:lpstr>Calibri</vt:lpstr>
      <vt:lpstr>Arial Unicode MS</vt:lpstr>
      <vt:lpstr>等线</vt:lpstr>
      <vt:lpstr>仿宋_GB2312</vt:lpstr>
      <vt:lpstr>仿宋</vt:lpstr>
      <vt:lpstr>quote-cjk-patch</vt:lpstr>
      <vt:lpstr>Segoe Print</vt:lpstr>
      <vt:lpstr>思源黑体 1</vt:lpstr>
      <vt:lpstr>思源黑体 2 Bold</vt:lpstr>
      <vt:lpstr>思源黑体 1 Heavy</vt:lpstr>
      <vt:lpstr>Yu Gothic UI Semibold</vt:lpstr>
      <vt:lpstr>Calibri Light</vt:lpstr>
      <vt:lpstr>等线 Light</vt:lpstr>
      <vt:lpstr>汉仪雅酷黑简</vt:lpstr>
      <vt:lpstr>方正清仿宋 简 Bold</vt:lpstr>
      <vt:lpstr>方正仿宋_GB2312</vt:lpstr>
      <vt:lpstr>Yu Gothic UI Light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刷脸打卡新纪元：Android人脸定位签到系统</dc:title>
  <dc:creator>Kimi</dc:creator>
  <dc:subject>刷脸打卡新纪元：Android人脸定位签到系统</dc:subject>
  <cp:lastModifiedBy>钟离..</cp:lastModifiedBy>
  <cp:revision>5</cp:revision>
  <dcterms:created xsi:type="dcterms:W3CDTF">2025-09-24T04:39:00Z</dcterms:created>
  <dcterms:modified xsi:type="dcterms:W3CDTF">2025-09-26T09:52:10Z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{"Label":"刷脸打卡新纪元：Android人脸定位签到系统","ContentProducer":"001191110108MACG2KBH8F10000","ProduceID":"d39nauu4bbjgt1lmoksg","ReservedCode1":"","ContentPropagator":"001191110108MACG2KBH8F20000","PropagateID":"d39nauu4bbjgt1lmoksg","ReservedCode2":""}</vt:lpwstr>
  </property>
  <property fmtid="{D5CDD505-2E9C-101B-9397-08002B2CF9AE}" pid="3" name="ICV">
    <vt:lpwstr>72639C8BF05B4728AA8C7A5AB22C4E09_13</vt:lpwstr>
  </property>
  <property fmtid="{D5CDD505-2E9C-101B-9397-08002B2CF9AE}" pid="4" name="KSOProductBuildVer">
    <vt:lpwstr>2052-12.1.0.22529</vt:lpwstr>
  </property>
</Properties>
</file>